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9e32e4978345f6" /><Relationship Type="http://schemas.openxmlformats.org/officeDocument/2006/relationships/extended-properties" Target="/docProps/app.xml" Id="R65895b95f922493b" /><Relationship Type="http://schemas.openxmlformats.org/officeDocument/2006/relationships/officeDocument" Target="/ppt/presentation.xml" Id="Rf017ccb8a15648aa" /></Relationships>
</file>

<file path=ppt/presentation.xml><?xml version="1.0" encoding="utf-8"?>
<p:presentation xmlns:p="http://schemas.openxmlformats.org/presentationml/2006/main">
  <p:sldMasterIdLst>
    <p:sldMasterId xmlns:r="http://schemas.openxmlformats.org/officeDocument/2006/relationships" id="2147483648" r:id="R06469da85e744067"/>
  </p:sldMasterIdLst>
  <p:notesMasterIdLst>
    <p:notesMasterId xmlns:r="http://schemas.openxmlformats.org/officeDocument/2006/relationships" r:id="R711c93c061094c12"/>
  </p:notesMasterIdLst>
  <p:sldIdLst>
    <p:sldId xmlns:r="http://schemas.openxmlformats.org/officeDocument/2006/relationships" id="256" r:id="Rb6e08c5e57994891"/>
    <p:sldId xmlns:r="http://schemas.openxmlformats.org/officeDocument/2006/relationships" id="257" r:id="Rf86a4202c2d24f40"/>
    <p:sldId xmlns:r="http://schemas.openxmlformats.org/officeDocument/2006/relationships" id="258" r:id="R3835ec2a62e9482b"/>
    <p:sldId xmlns:r="http://schemas.openxmlformats.org/officeDocument/2006/relationships" id="259" r:id="R2fb27d80ca714bc2"/>
    <p:sldId xmlns:r="http://schemas.openxmlformats.org/officeDocument/2006/relationships" id="260" r:id="Rfea8db6c15c34cf1"/>
    <p:sldId xmlns:r="http://schemas.openxmlformats.org/officeDocument/2006/relationships" id="261" r:id="Ra861a919784b4f29"/>
    <p:sldId xmlns:r="http://schemas.openxmlformats.org/officeDocument/2006/relationships" id="262" r:id="R306eed6c539748d4"/>
    <p:sldId xmlns:r="http://schemas.openxmlformats.org/officeDocument/2006/relationships" id="263" r:id="R87dd8e0d49bc4639"/>
    <p:sldId xmlns:r="http://schemas.openxmlformats.org/officeDocument/2006/relationships" id="264" r:id="R77b0fb22a0db4da4"/>
    <p:sldId xmlns:r="http://schemas.openxmlformats.org/officeDocument/2006/relationships" id="265" r:id="R9666271330bd44a9"/>
    <p:sldId xmlns:r="http://schemas.openxmlformats.org/officeDocument/2006/relationships" id="266" r:id="R908961c4deca46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44ea556dfa4174" /><Relationship Type="http://schemas.openxmlformats.org/officeDocument/2006/relationships/slideMaster" Target="/ppt/slideMasters/slideMaster1.xml" Id="R06469da85e744067" /><Relationship Type="http://schemas.openxmlformats.org/officeDocument/2006/relationships/notesMaster" Target="/ppt/notesMasters/notesMaster1.xml" Id="R711c93c061094c12" /><Relationship Type="http://schemas.openxmlformats.org/officeDocument/2006/relationships/presProps" Target="/ppt/presProps.xml" Id="Rd1a0533f51a2400d" /><Relationship Type="http://schemas.openxmlformats.org/officeDocument/2006/relationships/tableStyles" Target="/ppt/tableStyles.xml" Id="R8b37ab07370c4e1b" /><Relationship Type="http://schemas.openxmlformats.org/officeDocument/2006/relationships/slide" Target="/ppt/slides/slide1.xml" Id="Rb6e08c5e57994891" /><Relationship Type="http://schemas.openxmlformats.org/officeDocument/2006/relationships/slide" Target="/ppt/slides/slide2.xml" Id="Rf86a4202c2d24f40" /><Relationship Type="http://schemas.openxmlformats.org/officeDocument/2006/relationships/slide" Target="/ppt/slides/slide3.xml" Id="R3835ec2a62e9482b" /><Relationship Type="http://schemas.openxmlformats.org/officeDocument/2006/relationships/slide" Target="/ppt/slides/slide4.xml" Id="R2fb27d80ca714bc2" /><Relationship Type="http://schemas.openxmlformats.org/officeDocument/2006/relationships/slide" Target="/ppt/slides/slide5.xml" Id="Rfea8db6c15c34cf1" /><Relationship Type="http://schemas.openxmlformats.org/officeDocument/2006/relationships/slide" Target="/ppt/slides/slide6.xml" Id="Ra861a919784b4f29" /><Relationship Type="http://schemas.openxmlformats.org/officeDocument/2006/relationships/slide" Target="/ppt/slides/slide7.xml" Id="R306eed6c539748d4" /><Relationship Type="http://schemas.openxmlformats.org/officeDocument/2006/relationships/slide" Target="/ppt/slides/slide8.xml" Id="R87dd8e0d49bc4639" /><Relationship Type="http://schemas.openxmlformats.org/officeDocument/2006/relationships/slide" Target="/ppt/slides/slide9.xml" Id="R77b0fb22a0db4da4" /><Relationship Type="http://schemas.openxmlformats.org/officeDocument/2006/relationships/slide" Target="/ppt/slides/slide10.xml" Id="R9666271330bd44a9" /><Relationship Type="http://schemas.openxmlformats.org/officeDocument/2006/relationships/slide" Target="/ppt/slides/slide11.xml" Id="R908961c4deca46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8bd710b96442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57d81c53c3472c" /><Relationship Type="http://schemas.openxmlformats.org/officeDocument/2006/relationships/notesMaster" Target="/ppt/notesMasters/notesMaster1.xml" Id="R33d34ebed6c749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e6008716244826" /><Relationship Type="http://schemas.openxmlformats.org/officeDocument/2006/relationships/notesMaster" Target="/ppt/notesMasters/notesMaster1.xml" Id="R9aedca54629345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97196f0f694b7b" /><Relationship Type="http://schemas.openxmlformats.org/officeDocument/2006/relationships/notesMaster" Target="/ppt/notesMasters/notesMaster1.xml" Id="Rc562952ca0ba4c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326e22f8bc4235" /><Relationship Type="http://schemas.openxmlformats.org/officeDocument/2006/relationships/notesMaster" Target="/ppt/notesMasters/notesMaster1.xml" Id="Ra8ad7aaa33ae44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440788c7fd4749" /><Relationship Type="http://schemas.openxmlformats.org/officeDocument/2006/relationships/notesMaster" Target="/ppt/notesMasters/notesMaster1.xml" Id="R2297dcf2cccc4f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606f788ed44acd" /><Relationship Type="http://schemas.openxmlformats.org/officeDocument/2006/relationships/notesMaster" Target="/ppt/notesMasters/notesMaster1.xml" Id="R78258b3ea36b47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b5039773434f8b" /><Relationship Type="http://schemas.openxmlformats.org/officeDocument/2006/relationships/notesMaster" Target="/ppt/notesMasters/notesMaster1.xml" Id="R0f489f67163f48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37c84f2f2342e3" /><Relationship Type="http://schemas.openxmlformats.org/officeDocument/2006/relationships/notesMaster" Target="/ppt/notesMasters/notesMaster1.xml" Id="R8e1a4a77218d43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d5786eec094bac" /><Relationship Type="http://schemas.openxmlformats.org/officeDocument/2006/relationships/notesMaster" Target="/ppt/notesMasters/notesMaster1.xml" Id="Rc4c3b7de7cfd41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eccab4998d49b5" /><Relationship Type="http://schemas.openxmlformats.org/officeDocument/2006/relationships/notesMaster" Target="/ppt/notesMasters/notesMaster1.xml" Id="R78683762f17745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732175b7d24f71" /><Relationship Type="http://schemas.openxmlformats.org/officeDocument/2006/relationships/notesMaster" Target="/ppt/notesMasters/notesMaster1.xml" Id="R9611e8fdd59d45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this is Orbit, my scientific calculator capstone. The application evaluates scientific expressions and saves calculations in a PostgreSQL notebook. I will show the application, the quality gates, the AWS deployment, and the evidence collected before cleanup.</a:t>
            </a:r>
          </a:p>
          <a:p xmlns:a="http://schemas.openxmlformats.org/drawingml/2006/main">
            <a:r>
              <a:t/>
            </a:r>
          </a:p>
          <a:p xmlns:a="http://schemas.openxmlformats.org/drawingml/2006/main">
            <a:r>
              <a:t>Sources</a:t>
            </a:r>
          </a:p>
          <a:p xmlns:a="http://schemas.openxmlformats.org/drawingml/2006/main">
            <a:r>
              <a:t>https://github.com/Yeashu/DevOps-Capstone/blob/main/README.md</a:t>
            </a:r>
          </a:p>
          <a:p xmlns:a="http://schemas.openxmlformats.org/drawingml/2006/main">
            <a:r>
              <a:t>https://github.com/Yeashu/DevOps-Capstone/blob/main/docs/screenshots/01-application-desktop.png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calls a FastAPI backend. The calculator uses a bounded expression parser rather than unrestricted Python evaluation. PostgreSQL stores the notebook, and Alembic owns schema changes. The API supports creating, listing, updating and deleting calculations. Health, readiness and Prometheus metrics have separate endpoints.</a:t>
            </a:r>
          </a:p>
          <a:p xmlns:a="http://schemas.openxmlformats.org/drawingml/2006/main">
            <a:r>
              <a:t/>
            </a:r>
          </a:p>
          <a:p xmlns:a="http://schemas.openxmlformats.org/drawingml/2006/main">
            <a:r>
              <a:t>Sources</a:t>
            </a:r>
          </a:p>
          <a:p xmlns:a="http://schemas.openxmlformats.org/drawingml/2006/main">
            <a:r>
              <a:t>https://github.com/Yeashu/DevOps-Capstone/blob/main/backend/app/routes.py</a:t>
            </a:r>
          </a:p>
          <a:p xmlns:a="http://schemas.openxmlformats.org/drawingml/2006/main">
            <a:r>
              <a:t>https://github.com/Yeashu/DevOps-Capstone/blob/main/backend/app/calculator.py</a:t>
            </a:r>
          </a:p>
          <a:p xmlns:a="http://schemas.openxmlformats.org/drawingml/2006/main">
            <a:r>
              <a:t>https://github.com/Yeashu/DevOps-Capstone/blob/main/backend/app/main.py</a:t>
            </a:r>
          </a:p>
          <a:p xmlns:a="http://schemas.openxmlformats.org/drawingml/2006/main">
            <a:r>
              <a:t>https://github.com/Yeashu/DevOps-Capstone/blob/main/README.md#architecture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suite has sixty nine passing tests covering calculations and API behavior. Tests use an isolated database, with SQLite locally and disposable PostgreSQL in GitHub Actions. The production notebook is never the test database. Ruff checks Python code, and the frontend has four tests plus a production build.</a:t>
            </a:r>
          </a:p>
          <a:p xmlns:a="http://schemas.openxmlformats.org/drawingml/2006/main">
            <a:r>
              <a:t/>
            </a:r>
          </a:p>
          <a:p xmlns:a="http://schemas.openxmlformats.org/drawingml/2006/main">
            <a:r>
              <a:t>Sources</a:t>
            </a:r>
          </a:p>
          <a:p xmlns:a="http://schemas.openxmlformats.org/drawingml/2006/main">
            <a:r>
              <a:t>https://github.com/Yeashu/DevOps-Capstone/blob/main/docs/evidence/pytest.txt</a:t>
            </a:r>
          </a:p>
          <a:p xmlns:a="http://schemas.openxmlformats.org/drawingml/2006/main">
            <a:r>
              <a:t>https://github.com/Yeashu/DevOps-Capstone/blob/main/docs/evidence/hosted-pytest.txt</a:t>
            </a:r>
          </a:p>
          <a:p xmlns:a="http://schemas.openxmlformats.org/drawingml/2006/main">
            <a:r>
              <a:t>https://github.com/Yeashu/DevOps-Capstone/blob/main/docs/screenshots/pytest-03.png</a:t>
            </a:r>
          </a:p>
          <a:p xmlns:a="http://schemas.openxmlformats.org/drawingml/2006/main">
            <a:r>
              <a:t>https://github.com/Yeashu/DevOps-Capstone/blob/main/frontend/package.json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starts the complete stack with one command. Health checks confirm that the frontend, backend and database are ready. The backend and frontend run as non-root users. The frontend Dockerfile uses a Node build stage and an Nginx runtime stage. The local demo is stopped now after evidence collection.</a:t>
            </a:r>
          </a:p>
          <a:p xmlns:a="http://schemas.openxmlformats.org/drawingml/2006/main">
            <a:r>
              <a:t/>
            </a:r>
          </a:p>
          <a:p xmlns:a="http://schemas.openxmlformats.org/drawingml/2006/main">
            <a:r>
              <a:t>Sources</a:t>
            </a:r>
          </a:p>
          <a:p xmlns:a="http://schemas.openxmlformats.org/drawingml/2006/main">
            <a:r>
              <a:t>https://github.com/Yeashu/DevOps-Capstone/blob/main/docker-compose.yml</a:t>
            </a:r>
          </a:p>
          <a:p xmlns:a="http://schemas.openxmlformats.org/drawingml/2006/main">
            <a:r>
              <a:t>https://github.com/Yeashu/DevOps-Capstone/blob/main/backend/Dockerfile</a:t>
            </a:r>
          </a:p>
          <a:p xmlns:a="http://schemas.openxmlformats.org/drawingml/2006/main">
            <a:r>
              <a:t>https://github.com/Yeashu/DevOps-Capstone/blob/main/frontend/Dockerfile</a:t>
            </a:r>
          </a:p>
          <a:p xmlns:a="http://schemas.openxmlformats.org/drawingml/2006/main">
            <a:r>
              <a:t>https://github.com/Yeashu/DevOps-Capstone/blob/main/docs/screenshots/docker-compose-status.png</a:t>
            </a:r>
          </a:p>
          <a:p xmlns:a="http://schemas.openxmlformats.org/drawingml/2006/main">
            <a:r>
              <a:t>https://github.com/Yeashu/DevOps-Capstone/blob/main/docs/evidence/non-root-users.txt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push to main starts the pipeline. Tests and the frontend build must pass before the images reach publication. The pipeline scans both images and publishes those exact images to GitHub Container Registry using full commit SHA tags. It also deploys to a temporary Kind cluster. The overall run is green. The separate automatic EKS job is disabled, so the recorded EKS upgrade uses the local authenticated Helm CLI.</a:t>
            </a:r>
          </a:p>
          <a:p xmlns:a="http://schemas.openxmlformats.org/drawingml/2006/main">
            <a:r>
              <a:t/>
            </a:r>
          </a:p>
          <a:p xmlns:a="http://schemas.openxmlformats.org/drawingml/2006/main">
            <a:r>
              <a:t>Sources</a:t>
            </a:r>
          </a:p>
          <a:p xmlns:a="http://schemas.openxmlformats.org/drawingml/2006/main">
            <a:r>
              <a:t>https://github.com/Yeashu/DevOps-Capstone/blob/main/.github/workflows/ci.yml</a:t>
            </a:r>
          </a:p>
          <a:p xmlns:a="http://schemas.openxmlformats.org/drawingml/2006/main">
            <a:r>
              <a:t>https://github.com/Yeashu/DevOps-Capstone/blob/main/docs/screenshots/github-actions-success.png</a:t>
            </a:r>
          </a:p>
          <a:p xmlns:a="http://schemas.openxmlformats.org/drawingml/2006/main">
            <a:r>
              <a:t>https://github.com/Yeashu/DevOps-Capstone/actions/runs/38959438459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Trivy scans the operating system and packaged dependencies inside both container images. The initial backend image triggered the gate. Updating the runtime and removing unused vendored installer libraries resolved the findings. Both final images report zero high or critical findings. The workflow still fails on those severities, including unfixed vulnerabilities.</a:t>
            </a:r>
          </a:p>
          <a:p xmlns:a="http://schemas.openxmlformats.org/drawingml/2006/main">
            <a:r>
              <a:t/>
            </a:r>
          </a:p>
          <a:p xmlns:a="http://schemas.openxmlformats.org/drawingml/2006/main">
            <a:r>
              <a:t>Sources</a:t>
            </a:r>
          </a:p>
          <a:p xmlns:a="http://schemas.openxmlformats.org/drawingml/2006/main">
            <a:r>
              <a:t>https://github.com/Yeashu/DevOps-Capstone/blob/main/security/README.md</a:t>
            </a:r>
          </a:p>
          <a:p xmlns:a="http://schemas.openxmlformats.org/drawingml/2006/main">
            <a:r>
              <a:t>https://github.com/Yeashu/DevOps-Capstone/blob/main/docs/evidence/trivy-backend.txt</a:t>
            </a:r>
          </a:p>
          <a:p xmlns:a="http://schemas.openxmlformats.org/drawingml/2006/main">
            <a:r>
              <a:t>https://github.com/Yeashu/DevOps-Capstone/blob/main/docs/evidence/trivy-frontend.txt</a:t>
            </a:r>
          </a:p>
          <a:p xmlns:a="http://schemas.openxmlformats.org/drawingml/2006/main">
            <a:r>
              <a:t>https://github.com/Yeashu/DevOps-Capstone/blob/main/docs/screenshots/trivy-frontend.png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Terraform planned and provisioned twenty real resources in the Mumbai region. The infrastructure includes a VPC, two public subnets in different availability zones, an EKS control plane and a managed worker group. The actual AWS Console capture shows two Ready workers. These are historical captures because the infrastructure has since been destroyed.</a:t>
            </a:r>
          </a:p>
          <a:p xmlns:a="http://schemas.openxmlformats.org/drawingml/2006/main">
            <a:r>
              <a:t/>
            </a:r>
          </a:p>
          <a:p xmlns:a="http://schemas.openxmlformats.org/drawingml/2006/main">
            <a:r>
              <a:t>Sources</a:t>
            </a:r>
          </a:p>
          <a:p xmlns:a="http://schemas.openxmlformats.org/drawingml/2006/main">
            <a:r>
              <a:t>https://github.com/Yeashu/DevOps-Capstone/blob/main/terraform/vpc.tf</a:t>
            </a:r>
          </a:p>
          <a:p xmlns:a="http://schemas.openxmlformats.org/drawingml/2006/main">
            <a:r>
              <a:t>https://github.com/Yeashu/DevOps-Capstone/blob/main/terraform/eks.tf</a:t>
            </a:r>
          </a:p>
          <a:p xmlns:a="http://schemas.openxmlformats.org/drawingml/2006/main">
            <a:r>
              <a:t>https://github.com/Yeashu/DevOps-Capstone/blob/main/docs/evidence/terraform-plan.txt</a:t>
            </a:r>
          </a:p>
          <a:p xmlns:a="http://schemas.openxmlformats.org/drawingml/2006/main">
            <a:r>
              <a:t>https://github.com/Yeashu/DevOps-Capstone/blob/main/docs/evidence/terraform-apply.txt</a:t>
            </a:r>
          </a:p>
          <a:p xmlns:a="http://schemas.openxmlformats.org/drawingml/2006/main">
            <a:r>
              <a:t>https://github.com/Yeashu/DevOps-Capstone/blob/main/docs/screenshots/aws-eks-workers-console.png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Helm manages the application on EKS. Both the backend and frontend have two running replicas. PostgreSQL uses persistent storage. ClusterIP Services provide internal access, and Ingress routes the root path to the frontend and API traffic to FastAPI. A migration job completes during release upgrades, while readiness checks keep traffic away from unready application pods.</a:t>
            </a:r>
          </a:p>
          <a:p xmlns:a="http://schemas.openxmlformats.org/drawingml/2006/main">
            <a:r>
              <a:t/>
            </a:r>
          </a:p>
          <a:p xmlns:a="http://schemas.openxmlformats.org/drawingml/2006/main">
            <a:r>
              <a:t>Sources</a:t>
            </a:r>
          </a:p>
          <a:p xmlns:a="http://schemas.openxmlformats.org/drawingml/2006/main">
            <a:r>
              <a:t>https://github.com/Yeashu/DevOps-Capstone/blob/main/helm/orbit/values.yaml</a:t>
            </a:r>
          </a:p>
          <a:p xmlns:a="http://schemas.openxmlformats.org/drawingml/2006/main">
            <a:r>
              <a:t>https://github.com/Yeashu/DevOps-Capstone/blob/main/docs/evidence/eks-pods.txt</a:t>
            </a:r>
          </a:p>
          <a:p xmlns:a="http://schemas.openxmlformats.org/drawingml/2006/main">
            <a:r>
              <a:t>https://github.com/Yeashu/DevOps-Capstone/blob/main/docs/evidence/eks-services.txt</a:t>
            </a:r>
          </a:p>
          <a:p xmlns:a="http://schemas.openxmlformats.org/drawingml/2006/main">
            <a:r>
              <a:t>https://github.com/Yeashu/DevOps-Capstone/blob/main/docs/evidence/eks-ingress.txt</a:t>
            </a:r>
          </a:p>
          <a:p xmlns:a="http://schemas.openxmlformats.org/drawingml/2006/main">
            <a:r>
              <a:t>https://github.com/Yeashu/DevOps-Capstone/blob/main/docs/screenshots/eks-pods.png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exposes Prometheus-formatted metrics. Prometheus scrapes both backend replicas, and both targets report UP. Grafana shows populated request and latency panels. The error panel has no series in this capture. The screenshot shows actual metrics from the EKS deployment. This demonstrates that the monitoring stack observes the application, rather than just running alongside it.</a:t>
            </a:r>
          </a:p>
          <a:p xmlns:a="http://schemas.openxmlformats.org/drawingml/2006/main">
            <a:r>
              <a:t/>
            </a:r>
          </a:p>
          <a:p xmlns:a="http://schemas.openxmlformats.org/drawingml/2006/main">
            <a:r>
              <a:t>Sources</a:t>
            </a:r>
          </a:p>
          <a:p xmlns:a="http://schemas.openxmlformats.org/drawingml/2006/main">
            <a:r>
              <a:t>https://github.com/Yeashu/DevOps-Capstone/blob/main/monitoring/</a:t>
            </a:r>
          </a:p>
          <a:p xmlns:a="http://schemas.openxmlformats.org/drawingml/2006/main">
            <a:r>
              <a:t>https://github.com/Yeashu/DevOps-Capstone/blob/main/docs/evidence/eks-prometheus-targets.json</a:t>
            </a:r>
          </a:p>
          <a:p xmlns:a="http://schemas.openxmlformats.org/drawingml/2006/main">
            <a:r>
              <a:t>https://github.com/Yeashu/DevOps-Capstone/blob/main/docs/evidence/eks-metrics.txt</a:t>
            </a:r>
          </a:p>
          <a:p xmlns:a="http://schemas.openxmlformats.org/drawingml/2006/main">
            <a:r>
              <a:t>https://github.com/Yeashu/DevOps-Capstone/blob/main/docs/screenshots/eks-grafana-dashboard.png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recording shows the calculator on EKS, a successful pipeline, and an upgrade to that pipeline’s exact published commit. I ran the Helm upgrade through the authenticated local CLI. The backend health endpoint then reported the new SHA, and the notebook still contained the saved calculations after pod replacement. The automatic EKS Actions job remained skipped. This is evidence of a real deployment update, with the delivery mechanism stated clearly.</a:t>
            </a:r>
          </a:p>
          <a:p xmlns:a="http://schemas.openxmlformats.org/drawingml/2006/main">
            <a:r>
              <a:t/>
            </a:r>
          </a:p>
          <a:p xmlns:a="http://schemas.openxmlformats.org/drawingml/2006/main">
            <a:r>
              <a:t>Sources</a:t>
            </a:r>
          </a:p>
          <a:p xmlns:a="http://schemas.openxmlformats.org/drawingml/2006/main">
            <a:r>
              <a:t>https://github.com/Yeashu/DevOps-Capstone/blob/main/docs/evidence/rollout-demo.json</a:t>
            </a:r>
          </a:p>
          <a:p xmlns:a="http://schemas.openxmlformats.org/drawingml/2006/main">
            <a:r>
              <a:t>https://github.com/Yeashu/DevOps-Capstone/blob/main/docs/evidence/eks-rollout.txt</a:t>
            </a:r>
          </a:p>
          <a:p xmlns:a="http://schemas.openxmlformats.org/drawingml/2006/main">
            <a:r>
              <a:t>https://github.com/Yeashu/DevOps-Capstone/blob/main/docs/screenshots/eks-updated-version.png</a:t>
            </a:r>
          </a:p>
          <a:p xmlns:a="http://schemas.openxmlformats.org/drawingml/2006/main">
            <a:r>
              <a:t>https://github.com/Yeashu/DevOps-Capstone/blob/main/docs/screenshots/eks-after-rollout.png</a:t>
            </a:r>
          </a:p>
          <a:p xmlns:a="http://schemas.openxmlformats.org/drawingml/2006/main">
            <a:r>
              <a:t>https://github.com/Yeashu/DevOps-Capstone/actions/runs/38947611595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Terraform destroy completed, and the independent audit confirmed removal of the project cluster, VPC, active workers, recorded volumes and related network resources. Temporary IAM access was also removed. The source, evidence screenshots, silent video and slide deck remain in the public repository. The demo folder contains the mandatory MP4 and the PowerPoint and PDF copies. Thank you.</a:t>
            </a:r>
          </a:p>
          <a:p xmlns:a="http://schemas.openxmlformats.org/drawingml/2006/main">
            <a:r>
              <a:t/>
            </a:r>
          </a:p>
          <a:p xmlns:a="http://schemas.openxmlformats.org/drawingml/2006/main">
            <a:r>
              <a:t>Sources</a:t>
            </a:r>
          </a:p>
          <a:p xmlns:a="http://schemas.openxmlformats.org/drawingml/2006/main">
            <a:r>
              <a:t>https://github.com/Yeashu/DevOps-Capstone/blob/main/docs/screenshots/terraform-destroy.png</a:t>
            </a:r>
          </a:p>
          <a:p xmlns:a="http://schemas.openxmlformats.org/drawingml/2006/main">
            <a:r>
              <a:t>https://github.com/Yeashu/DevOps-Capstone/blob/main/docs/evidence/aws-cleanup-audit.json</a:t>
            </a:r>
          </a:p>
          <a:p xmlns:a="http://schemas.openxmlformats.org/drawingml/2006/main">
            <a:r>
              <a:t>https://github.com/Yeashu/DevOps-Capstone/blob/main/docs/evidence/aws-bootstrap-cleanup.json</a:t>
            </a:r>
          </a:p>
          <a:p xmlns:a="http://schemas.openxmlformats.org/drawingml/2006/main">
            <a:r>
              <a:t>https://github.com/Yeashu/DevOps-Capstone/blob/main/docs/evidence/final-workspace-cleanup.json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fda5beffe344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7c4e65bb944d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a6b08a542c40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6e1a129e814f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8d74bbb46549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ac4ec6401e4c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FCCCA1-44D2-4E90-A75D-C8C14298DF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E864AA-DD19-4BDB-84F9-051B605160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9E2DEE-F6B5-4663-BA33-C5E0398EB4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3F2B2E-B493-496C-B056-593A5C59E8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8CA8AD-A1B6-4858-B57F-F26E3752CB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EFFB31-0FB7-43B8-9F3D-7C0930F546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205D39-A571-4AF0-B120-4EE8C084A0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E381176-5FA8-4D54-A65F-ABC30C70ED9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36EF16-A7E2-490F-8314-B10F7A95CA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15183E-3ECF-4EB7-B6D4-655D562B1B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40c7bbb96b4f48" /><Relationship Type="http://schemas.openxmlformats.org/officeDocument/2006/relationships/slideLayout" Target="/ppt/slideLayouts/slideLayout1.xml" Id="Ra167c7a91a5a4612" /><Relationship Type="http://schemas.openxmlformats.org/officeDocument/2006/relationships/slideLayout" Target="/ppt/slideLayouts/slideLayout2.xml" Id="R4c86495aeeae44e2" /><Relationship Type="http://schemas.openxmlformats.org/officeDocument/2006/relationships/slideLayout" Target="/ppt/slideLayouts/slideLayout3.xml" Id="R095057a7c4354453" /><Relationship Type="http://schemas.openxmlformats.org/officeDocument/2006/relationships/slideLayout" Target="/ppt/slideLayouts/slideLayout4.xml" Id="R3cc2563d70414c48" /><Relationship Type="http://schemas.openxmlformats.org/officeDocument/2006/relationships/slideLayout" Target="/ppt/slideLayouts/slideLayout5.xml" Id="Rab3a2c4037c44777" /><Relationship Type="http://schemas.openxmlformats.org/officeDocument/2006/relationships/slideLayout" Target="/ppt/slideLayouts/slideLayout6.xml" Id="Rd523f9d4ec6e49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67c7a91a5a4612"/>
    <p:sldLayoutId xmlns:r="http://schemas.openxmlformats.org/officeDocument/2006/relationships" id="2147483650" r:id="R4c86495aeeae44e2"/>
    <p:sldLayoutId xmlns:r="http://schemas.openxmlformats.org/officeDocument/2006/relationships" id="2147483651" r:id="R095057a7c4354453"/>
    <p:sldLayoutId xmlns:r="http://schemas.openxmlformats.org/officeDocument/2006/relationships" id="2147483652" r:id="R3cc2563d70414c48"/>
    <p:sldLayoutId xmlns:r="http://schemas.openxmlformats.org/officeDocument/2006/relationships" id="2147483653" r:id="Rab3a2c4037c44777"/>
    <p:sldLayoutId xmlns:r="http://schemas.openxmlformats.org/officeDocument/2006/relationships" id="2147483654" r:id="Rd523f9d4ec6e49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3e3b8ae38c2435b" /><Relationship Type="http://schemas.openxmlformats.org/officeDocument/2006/relationships/image" Target="/ppt/media/image.png" Id="R23b31fe0f1e842ac" /><Relationship Type="http://schemas.openxmlformats.org/officeDocument/2006/relationships/notesSlide" Target="/ppt/notesSlides/notesSlide1.xml" Id="R8233beffd5c646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3688469251451e" /><Relationship Type="http://schemas.openxmlformats.org/officeDocument/2006/relationships/notesSlide" Target="/ppt/notesSlides/notesSlide2.xml" Id="Rc093774bd9ad4e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ef01969c97c4b31" /><Relationship Type="http://schemas.openxmlformats.org/officeDocument/2006/relationships/image" Target="/ppt/media/image2.png" Id="R675a6c92a8e047fb" /><Relationship Type="http://schemas.openxmlformats.org/officeDocument/2006/relationships/notesSlide" Target="/ppt/notesSlides/notesSlide3.xml" Id="R679a4cd7756647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295988f2584664" /><Relationship Type="http://schemas.openxmlformats.org/officeDocument/2006/relationships/image" Target="/ppt/media/image3.png" Id="Rbb32bdc007b6406a" /><Relationship Type="http://schemas.openxmlformats.org/officeDocument/2006/relationships/notesSlide" Target="/ppt/notesSlides/notesSlide4.xml" Id="Re6ff5872963948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37c14f414f4a4b" /><Relationship Type="http://schemas.openxmlformats.org/officeDocument/2006/relationships/image" Target="/ppt/media/image4.png" Id="Ra31b9057f9834c85" /><Relationship Type="http://schemas.openxmlformats.org/officeDocument/2006/relationships/notesSlide" Target="/ppt/notesSlides/notesSlide5.xml" Id="Ra936f4df966548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b7297cc135463f" /><Relationship Type="http://schemas.openxmlformats.org/officeDocument/2006/relationships/image" Target="/ppt/media/image5.png" Id="R46fbb548e42247eb" /><Relationship Type="http://schemas.openxmlformats.org/officeDocument/2006/relationships/notesSlide" Target="/ppt/notesSlides/notesSlide6.xml" Id="Rb3199a822e2f44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f29375e7de414a" /><Relationship Type="http://schemas.openxmlformats.org/officeDocument/2006/relationships/image" Target="/ppt/media/image6.png" Id="R7a174a902b274e2b" /><Relationship Type="http://schemas.openxmlformats.org/officeDocument/2006/relationships/notesSlide" Target="/ppt/notesSlides/notesSlide7.xml" Id="Rd8841480aa3545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4f802739824ff6" /><Relationship Type="http://schemas.openxmlformats.org/officeDocument/2006/relationships/image" Target="/ppt/media/image7.png" Id="Rd23d2a6c1f4f40dc" /><Relationship Type="http://schemas.openxmlformats.org/officeDocument/2006/relationships/notesSlide" Target="/ppt/notesSlides/notesSlide8.xml" Id="R922f1eb626a145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9ef137404d4942" /><Relationship Type="http://schemas.openxmlformats.org/officeDocument/2006/relationships/image" Target="/ppt/media/image8.png" Id="Rb14bb774183c40e7" /><Relationship Type="http://schemas.openxmlformats.org/officeDocument/2006/relationships/notesSlide" Target="/ppt/notesSlides/notesSlide9.xml" Id="R7f91a80a5e5d49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3966c4f51d49e1" /><Relationship Type="http://schemas.openxmlformats.org/officeDocument/2006/relationships/image" Target="/ppt/media/image9.png" Id="R259339c17e814810" /><Relationship Type="http://schemas.openxmlformats.org/officeDocument/2006/relationships/notesSlide" Target="/ppt/notesSlides/notesSlide10.xml" Id="R66b935b0f4af45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7c337039d0249b2" /><Relationship Type="http://schemas.openxmlformats.org/officeDocument/2006/relationships/image" Target="/ppt/media/image10.png" Id="R6250361a7dd24696" /><Relationship Type="http://schemas.openxmlformats.org/officeDocument/2006/relationships/hyperlink" Target="https://github.com/Yeashu/DevOps-Capstone" TargetMode="External" Id="R1a30e37a52b6456e" /><Relationship Type="http://schemas.openxmlformats.org/officeDocument/2006/relationships/notesSlide" Target="/ppt/notesSlides/notesSlide11.xml" Id="R04dc3a8c29dd4008" /></Relationships>
</file>

<file path=ppt/slides/slide1.xml><?xml version="1.0" encoding="utf-8"?>
<p:sld xmlns:p="http://schemas.openxmlformats.org/presentationml/2006/main">
  <p:cSld>
    <p:bg>
      <p:bgPr>
        <a:solidFill xmlns:a="http://schemas.openxmlformats.org/drawingml/2006/main">
          <a:srgbClr val="102B22"/>
        </a:solidFill>
      </p:bgPr>
    </p:bg>
    <p:spTree>
      <p:nvGrpSpPr>
        <p:cNvPr id="1" name=""/>
        <p:cNvGrpSpPr/>
        <p:nvPr/>
      </p:nvGrpSpPr>
      <p:grpSpPr>
        <a:xfrm xmlns:a="http://schemas.openxmlformats.org/drawingml/2006/main"/>
      </p:grpSpPr>
      <p:sp>
        <p:nvSpPr>
          <p:cNvPr id="6" name="Orbit">
            <a:extLst xmlns:a="http://schemas.openxmlformats.org/drawingml/2006/main">
              <a:ext uri="{FF2B5EF4-FFF2-40B4-BE49-F238E27FC236}">
                <a16:creationId xmlns:a16="http://schemas.microsoft.com/office/drawing/2014/main" id="{B1F50C1E-BBF0-4937-95FF-E8C61E8BA5C3}"/>
              </a:ext>
            </a:extLst>
          </p:cNvPr>
          <p:cNvSpPr>
            <a:spLocks xmlns:a="http://schemas.openxmlformats.org/drawingml/2006/main" noGrp="1"/>
          </p:cNvSpPr>
          <p:nvPr/>
        </p:nvSpPr>
        <p:spPr>
          <a:xfrm xmlns:a="http://schemas.openxmlformats.org/drawingml/2006/main">
            <a:off x="609600" y="1381125"/>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F5F5ED"/>
                </a:solidFill>
                <a:latin typeface="Arial"/>
                <a:ea typeface="Arial"/>
                <a:cs typeface="Arial"/>
              </a:defRPr>
            </a:defPPr>
            <a:lvl1pPr>
              <a:defRPr sz="7200" b="1">
                <a:solidFill>
                  <a:srgbClr val="F5F5ED"/>
                </a:solidFill>
                <a:latin typeface="Arial"/>
                <a:ea typeface="Arial"/>
                <a:cs typeface="Arial"/>
              </a:defRPr>
            </a:lvl1pPr>
            <a:lvl2pPr>
              <a:defRPr sz="7200" b="1">
                <a:solidFill>
                  <a:srgbClr val="F5F5ED"/>
                </a:solidFill>
                <a:latin typeface="Arial"/>
                <a:ea typeface="Arial"/>
                <a:cs typeface="Arial"/>
              </a:defRPr>
            </a:lvl2pPr>
            <a:lvl3pPr>
              <a:defRPr sz="7200" b="1">
                <a:solidFill>
                  <a:srgbClr val="F5F5ED"/>
                </a:solidFill>
                <a:latin typeface="Arial"/>
                <a:ea typeface="Arial"/>
                <a:cs typeface="Arial"/>
              </a:defRPr>
            </a:lvl3pPr>
            <a:lvl4pPr>
              <a:defRPr sz="7200" b="1">
                <a:solidFill>
                  <a:srgbClr val="F5F5ED"/>
                </a:solidFill>
                <a:latin typeface="Arial"/>
                <a:ea typeface="Arial"/>
                <a:cs typeface="Arial"/>
              </a:defRPr>
            </a:lvl4pPr>
            <a:lvl5pPr>
              <a:defRPr sz="7200" b="1">
                <a:solidFill>
                  <a:srgbClr val="F5F5ED"/>
                </a:solidFill>
                <a:latin typeface="Arial"/>
                <a:ea typeface="Arial"/>
                <a:cs typeface="Arial"/>
              </a:defRPr>
            </a:lvl5pPr>
            <a:lvl6pPr>
              <a:defRPr sz="7200" b="1">
                <a:solidFill>
                  <a:srgbClr val="F5F5ED"/>
                </a:solidFill>
                <a:latin typeface="Arial"/>
                <a:ea typeface="Arial"/>
                <a:cs typeface="Arial"/>
              </a:defRPr>
            </a:lvl6pPr>
            <a:lvl7pPr>
              <a:defRPr sz="7200" b="1">
                <a:solidFill>
                  <a:srgbClr val="F5F5ED"/>
                </a:solidFill>
                <a:latin typeface="Arial"/>
                <a:ea typeface="Arial"/>
                <a:cs typeface="Arial"/>
              </a:defRPr>
            </a:lvl7pPr>
            <a:lvl8pPr>
              <a:defRPr sz="7200" b="1">
                <a:solidFill>
                  <a:srgbClr val="F5F5ED"/>
                </a:solidFill>
                <a:latin typeface="Arial"/>
                <a:ea typeface="Arial"/>
                <a:cs typeface="Arial"/>
              </a:defRPr>
            </a:lvl8pPr>
            <a:lvl9pPr>
              <a:defRPr sz="7200" b="1">
                <a:solidFill>
                  <a:srgbClr val="F5F5ED"/>
                </a:solidFill>
                <a:latin typeface="Arial"/>
                <a:ea typeface="Arial"/>
                <a:cs typeface="Arial"/>
              </a:defRPr>
            </a:lvl9pPr>
          </a:lstStyle>
          <a:p xmlns:a="http://schemas.openxmlformats.org/drawingml/2006/main">
            <a:pPr>
              <a:defRPr sz="7200" b="1">
                <a:solidFill>
                  <a:srgbClr val="F5F5ED"/>
                </a:solidFill>
                <a:latin typeface="Arial"/>
                <a:ea typeface="Arial"/>
                <a:cs typeface="Arial"/>
              </a:defRPr>
            </a:pPr>
            <a:r>
              <a:rPr sz="7200" b="1">
                <a:solidFill>
                  <a:srgbClr val="F5F5ED"/>
                </a:solidFill>
                <a:latin typeface="Arial"/>
                <a:ea typeface="Arial"/>
                <a:cs typeface="Arial"/>
              </a:rPr>
              <a:t>Orbit</a:t>
            </a:r>
          </a:p>
        </p:txBody>
      </p:sp>
      <p:sp>
        <p:nvSpPr>
          <p:cNvPr id="2" name="Scientific calculator">
            <a:extLst xmlns:a="http://schemas.openxmlformats.org/drawingml/2006/main">
              <a:ext uri="{FF2B5EF4-FFF2-40B4-BE49-F238E27FC236}">
                <a16:creationId xmlns:a16="http://schemas.microsoft.com/office/drawing/2014/main" id="{25916D05-9F3E-4778-A841-DAAB8D17C331}"/>
              </a:ext>
            </a:extLst>
          </p:cNvPr>
          <p:cNvSpPr>
            <a:spLocks xmlns:a="http://schemas.openxmlformats.org/drawingml/2006/main" noGrp="1"/>
          </p:cNvSpPr>
          <p:nvPr/>
        </p:nvSpPr>
        <p:spPr>
          <a:xfrm xmlns:a="http://schemas.openxmlformats.org/drawingml/2006/main">
            <a:off x="647700" y="268605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C4DCA9"/>
                </a:solidFill>
                <a:latin typeface="Arial"/>
                <a:ea typeface="Arial"/>
                <a:cs typeface="Arial"/>
              </a:defRPr>
            </a:defPPr>
            <a:lvl1pPr>
              <a:defRPr sz="2850" b="0">
                <a:solidFill>
                  <a:srgbClr val="C4DCA9"/>
                </a:solidFill>
                <a:latin typeface="Arial"/>
                <a:ea typeface="Arial"/>
                <a:cs typeface="Arial"/>
              </a:defRPr>
            </a:lvl1pPr>
            <a:lvl2pPr>
              <a:defRPr sz="2850" b="0">
                <a:solidFill>
                  <a:srgbClr val="C4DCA9"/>
                </a:solidFill>
                <a:latin typeface="Arial"/>
                <a:ea typeface="Arial"/>
                <a:cs typeface="Arial"/>
              </a:defRPr>
            </a:lvl2pPr>
            <a:lvl3pPr>
              <a:defRPr sz="2850" b="0">
                <a:solidFill>
                  <a:srgbClr val="C4DCA9"/>
                </a:solidFill>
                <a:latin typeface="Arial"/>
                <a:ea typeface="Arial"/>
                <a:cs typeface="Arial"/>
              </a:defRPr>
            </a:lvl3pPr>
            <a:lvl4pPr>
              <a:defRPr sz="2850" b="0">
                <a:solidFill>
                  <a:srgbClr val="C4DCA9"/>
                </a:solidFill>
                <a:latin typeface="Arial"/>
                <a:ea typeface="Arial"/>
                <a:cs typeface="Arial"/>
              </a:defRPr>
            </a:lvl4pPr>
            <a:lvl5pPr>
              <a:defRPr sz="2850" b="0">
                <a:solidFill>
                  <a:srgbClr val="C4DCA9"/>
                </a:solidFill>
                <a:latin typeface="Arial"/>
                <a:ea typeface="Arial"/>
                <a:cs typeface="Arial"/>
              </a:defRPr>
            </a:lvl5pPr>
            <a:lvl6pPr>
              <a:defRPr sz="2850" b="0">
                <a:solidFill>
                  <a:srgbClr val="C4DCA9"/>
                </a:solidFill>
                <a:latin typeface="Arial"/>
                <a:ea typeface="Arial"/>
                <a:cs typeface="Arial"/>
              </a:defRPr>
            </a:lvl6pPr>
            <a:lvl7pPr>
              <a:defRPr sz="2850" b="0">
                <a:solidFill>
                  <a:srgbClr val="C4DCA9"/>
                </a:solidFill>
                <a:latin typeface="Arial"/>
                <a:ea typeface="Arial"/>
                <a:cs typeface="Arial"/>
              </a:defRPr>
            </a:lvl7pPr>
            <a:lvl8pPr>
              <a:defRPr sz="2850" b="0">
                <a:solidFill>
                  <a:srgbClr val="C4DCA9"/>
                </a:solidFill>
                <a:latin typeface="Arial"/>
                <a:ea typeface="Arial"/>
                <a:cs typeface="Arial"/>
              </a:defRPr>
            </a:lvl8pPr>
            <a:lvl9pPr>
              <a:defRPr sz="2850" b="0">
                <a:solidFill>
                  <a:srgbClr val="C4DCA9"/>
                </a:solidFill>
                <a:latin typeface="Arial"/>
                <a:ea typeface="Arial"/>
                <a:cs typeface="Arial"/>
              </a:defRPr>
            </a:lvl9pPr>
          </a:lstStyle>
          <a:p xmlns:a="http://schemas.openxmlformats.org/drawingml/2006/main">
            <a:pPr>
              <a:defRPr sz="2850" b="0">
                <a:solidFill>
                  <a:srgbClr val="C4DCA9"/>
                </a:solidFill>
                <a:latin typeface="Arial"/>
                <a:ea typeface="Arial"/>
                <a:cs typeface="Arial"/>
              </a:defRPr>
            </a:pPr>
            <a:r>
              <a:rPr sz="2850" b="0">
                <a:solidFill>
                  <a:srgbClr val="C4DCA9"/>
                </a:solidFill>
                <a:latin typeface="Arial"/>
                <a:ea typeface="Arial"/>
                <a:cs typeface="Arial"/>
              </a:rPr>
              <a:t>Scientific calculator</a:t>
            </a:r>
          </a:p>
        </p:txBody>
      </p:sp>
      <p:sp>
        <p:nvSpPr>
          <p:cNvPr id="3" name="DevOps final capstone">
            <a:extLst xmlns:a="http://schemas.openxmlformats.org/drawingml/2006/main">
              <a:ext uri="{FF2B5EF4-FFF2-40B4-BE49-F238E27FC236}">
                <a16:creationId xmlns:a16="http://schemas.microsoft.com/office/drawing/2014/main" id="{39771C20-988A-4BC2-8D1E-50EAA154A7DB}"/>
              </a:ext>
            </a:extLst>
          </p:cNvPr>
          <p:cNvSpPr>
            <a:spLocks xmlns:a="http://schemas.openxmlformats.org/drawingml/2006/main" noGrp="1"/>
          </p:cNvSpPr>
          <p:nvPr/>
        </p:nvSpPr>
        <p:spPr>
          <a:xfrm xmlns:a="http://schemas.openxmlformats.org/drawingml/2006/main">
            <a:off x="647700" y="37433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5ED"/>
                </a:solidFill>
                <a:latin typeface="Arial"/>
                <a:ea typeface="Arial"/>
                <a:cs typeface="Arial"/>
              </a:defRPr>
            </a:defPPr>
            <a:lvl1pPr>
              <a:defRPr sz="2100" b="0">
                <a:solidFill>
                  <a:srgbClr val="F5F5ED"/>
                </a:solidFill>
                <a:latin typeface="Arial"/>
                <a:ea typeface="Arial"/>
                <a:cs typeface="Arial"/>
              </a:defRPr>
            </a:lvl1pPr>
            <a:lvl2pPr>
              <a:defRPr sz="2100" b="0">
                <a:solidFill>
                  <a:srgbClr val="F5F5ED"/>
                </a:solidFill>
                <a:latin typeface="Arial"/>
                <a:ea typeface="Arial"/>
                <a:cs typeface="Arial"/>
              </a:defRPr>
            </a:lvl2pPr>
            <a:lvl3pPr>
              <a:defRPr sz="2100" b="0">
                <a:solidFill>
                  <a:srgbClr val="F5F5ED"/>
                </a:solidFill>
                <a:latin typeface="Arial"/>
                <a:ea typeface="Arial"/>
                <a:cs typeface="Arial"/>
              </a:defRPr>
            </a:lvl3pPr>
            <a:lvl4pPr>
              <a:defRPr sz="2100" b="0">
                <a:solidFill>
                  <a:srgbClr val="F5F5ED"/>
                </a:solidFill>
                <a:latin typeface="Arial"/>
                <a:ea typeface="Arial"/>
                <a:cs typeface="Arial"/>
              </a:defRPr>
            </a:lvl4pPr>
            <a:lvl5pPr>
              <a:defRPr sz="2100" b="0">
                <a:solidFill>
                  <a:srgbClr val="F5F5ED"/>
                </a:solidFill>
                <a:latin typeface="Arial"/>
                <a:ea typeface="Arial"/>
                <a:cs typeface="Arial"/>
              </a:defRPr>
            </a:lvl5pPr>
            <a:lvl6pPr>
              <a:defRPr sz="2100" b="0">
                <a:solidFill>
                  <a:srgbClr val="F5F5ED"/>
                </a:solidFill>
                <a:latin typeface="Arial"/>
                <a:ea typeface="Arial"/>
                <a:cs typeface="Arial"/>
              </a:defRPr>
            </a:lvl6pPr>
            <a:lvl7pPr>
              <a:defRPr sz="2100" b="0">
                <a:solidFill>
                  <a:srgbClr val="F5F5ED"/>
                </a:solidFill>
                <a:latin typeface="Arial"/>
                <a:ea typeface="Arial"/>
                <a:cs typeface="Arial"/>
              </a:defRPr>
            </a:lvl7pPr>
            <a:lvl8pPr>
              <a:defRPr sz="2100" b="0">
                <a:solidFill>
                  <a:srgbClr val="F5F5ED"/>
                </a:solidFill>
                <a:latin typeface="Arial"/>
                <a:ea typeface="Arial"/>
                <a:cs typeface="Arial"/>
              </a:defRPr>
            </a:lvl8pPr>
            <a:lvl9pPr>
              <a:defRPr sz="2100" b="0">
                <a:solidFill>
                  <a:srgbClr val="F5F5ED"/>
                </a:solidFill>
                <a:latin typeface="Arial"/>
                <a:ea typeface="Arial"/>
                <a:cs typeface="Arial"/>
              </a:defRPr>
            </a:lvl9pPr>
          </a:lstStyle>
          <a:p xmlns:a="http://schemas.openxmlformats.org/drawingml/2006/main">
            <a:pPr>
              <a:defRPr sz="2100" b="0">
                <a:solidFill>
                  <a:srgbClr val="F5F5ED"/>
                </a:solidFill>
                <a:latin typeface="Arial"/>
                <a:ea typeface="Arial"/>
                <a:cs typeface="Arial"/>
              </a:defRPr>
            </a:pPr>
            <a:r>
              <a:rPr sz="2100" b="0">
                <a:solidFill>
                  <a:srgbClr val="F5F5ED"/>
                </a:solidFill>
                <a:latin typeface="Arial"/>
                <a:ea typeface="Arial"/>
                <a:cs typeface="Arial"/>
              </a:rPr>
              <a:t>DevOps final capstone</a:t>
            </a:r>
          </a:p>
        </p:txBody>
      </p:sp>
      <p:sp>
        <p:nvSpPr>
          <p:cNvPr id="4" name="Python / FastAPI / PostgreSQL">
            <a:extLst xmlns:a="http://schemas.openxmlformats.org/drawingml/2006/main">
              <a:ext uri="{FF2B5EF4-FFF2-40B4-BE49-F238E27FC236}">
                <a16:creationId xmlns:a16="http://schemas.microsoft.com/office/drawing/2014/main" id="{0B7A8E9C-1B9E-4DA0-9CEA-E8D133829D70}"/>
              </a:ext>
            </a:extLst>
          </p:cNvPr>
          <p:cNvSpPr>
            <a:spLocks xmlns:a="http://schemas.openxmlformats.org/drawingml/2006/main" noGrp="1"/>
          </p:cNvSpPr>
          <p:nvPr/>
        </p:nvSpPr>
        <p:spPr>
          <a:xfrm xmlns:a="http://schemas.openxmlformats.org/drawingml/2006/main">
            <a:off x="647700" y="430530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C4DCA9"/>
                </a:solidFill>
                <a:latin typeface="Arial"/>
                <a:ea typeface="Arial"/>
                <a:cs typeface="Arial"/>
              </a:defRPr>
            </a:defPPr>
            <a:lvl1pPr>
              <a:defRPr sz="1875" b="0">
                <a:solidFill>
                  <a:srgbClr val="C4DCA9"/>
                </a:solidFill>
                <a:latin typeface="Arial"/>
                <a:ea typeface="Arial"/>
                <a:cs typeface="Arial"/>
              </a:defRPr>
            </a:lvl1pPr>
            <a:lvl2pPr>
              <a:defRPr sz="1875" b="0">
                <a:solidFill>
                  <a:srgbClr val="C4DCA9"/>
                </a:solidFill>
                <a:latin typeface="Arial"/>
                <a:ea typeface="Arial"/>
                <a:cs typeface="Arial"/>
              </a:defRPr>
            </a:lvl2pPr>
            <a:lvl3pPr>
              <a:defRPr sz="1875" b="0">
                <a:solidFill>
                  <a:srgbClr val="C4DCA9"/>
                </a:solidFill>
                <a:latin typeface="Arial"/>
                <a:ea typeface="Arial"/>
                <a:cs typeface="Arial"/>
              </a:defRPr>
            </a:lvl3pPr>
            <a:lvl4pPr>
              <a:defRPr sz="1875" b="0">
                <a:solidFill>
                  <a:srgbClr val="C4DCA9"/>
                </a:solidFill>
                <a:latin typeface="Arial"/>
                <a:ea typeface="Arial"/>
                <a:cs typeface="Arial"/>
              </a:defRPr>
            </a:lvl4pPr>
            <a:lvl5pPr>
              <a:defRPr sz="1875" b="0">
                <a:solidFill>
                  <a:srgbClr val="C4DCA9"/>
                </a:solidFill>
                <a:latin typeface="Arial"/>
                <a:ea typeface="Arial"/>
                <a:cs typeface="Arial"/>
              </a:defRPr>
            </a:lvl5pPr>
            <a:lvl6pPr>
              <a:defRPr sz="1875" b="0">
                <a:solidFill>
                  <a:srgbClr val="C4DCA9"/>
                </a:solidFill>
                <a:latin typeface="Arial"/>
                <a:ea typeface="Arial"/>
                <a:cs typeface="Arial"/>
              </a:defRPr>
            </a:lvl6pPr>
            <a:lvl7pPr>
              <a:defRPr sz="1875" b="0">
                <a:solidFill>
                  <a:srgbClr val="C4DCA9"/>
                </a:solidFill>
                <a:latin typeface="Arial"/>
                <a:ea typeface="Arial"/>
                <a:cs typeface="Arial"/>
              </a:defRPr>
            </a:lvl7pPr>
            <a:lvl8pPr>
              <a:defRPr sz="1875" b="0">
                <a:solidFill>
                  <a:srgbClr val="C4DCA9"/>
                </a:solidFill>
                <a:latin typeface="Arial"/>
                <a:ea typeface="Arial"/>
                <a:cs typeface="Arial"/>
              </a:defRPr>
            </a:lvl8pPr>
            <a:lvl9pPr>
              <a:defRPr sz="1875" b="0">
                <a:solidFill>
                  <a:srgbClr val="C4DCA9"/>
                </a:solidFill>
                <a:latin typeface="Arial"/>
                <a:ea typeface="Arial"/>
                <a:cs typeface="Arial"/>
              </a:defRPr>
            </a:lvl9pPr>
          </a:lstStyle>
          <a:p xmlns:a="http://schemas.openxmlformats.org/drawingml/2006/main">
            <a:pPr>
              <a:defRPr sz="1875" b="0">
                <a:solidFill>
                  <a:srgbClr val="C4DCA9"/>
                </a:solidFill>
                <a:latin typeface="Arial"/>
                <a:ea typeface="Arial"/>
                <a:cs typeface="Arial"/>
              </a:defRPr>
            </a:pPr>
            <a:r>
              <a:rPr sz="1875" b="0">
                <a:solidFill>
                  <a:srgbClr val="C4DCA9"/>
                </a:solidFill>
                <a:latin typeface="Arial"/>
                <a:ea typeface="Arial"/>
                <a:cs typeface="Arial"/>
              </a:rPr>
              <a:t>Python / FastAPI / PostgreSQL</a:t>
            </a:r>
          </a:p>
        </p:txBody>
      </p:sp>
      <p:pic>
        <p:nvPicPr>
          <p:cNvPr id="5" name="">
            <a:extLst xmlns:a="http://schemas.openxmlformats.org/drawingml/2006/main">
              <a:ext uri="{FF2B5EF4-FFF2-40B4-BE49-F238E27FC236}">
                <a16:creationId xmlns:a16="http://schemas.microsoft.com/office/drawing/2014/main" id="{B6AA5FE8-6962-42F9-A5C2-43E430184466}"/>
              </a:ext>
            </a:extLst>
          </p:cNvPr>
          <p:cNvPicPr>
            <a:picLocks xmlns:a="http://schemas.openxmlformats.org/drawingml/2006/main" noChangeAspect="1"/>
          </p:cNvPicPr>
          <p:nvPr/>
        </p:nvPicPr>
        <p:blipFill>
          <a:blip xmlns:r="http://schemas.openxmlformats.org/officeDocument/2006/relationships" xmlns:a="http://schemas.openxmlformats.org/drawingml/2006/main" r:embed="R23b31fe0f1e842ac"/>
          <a:stretch xmlns:a="http://schemas.openxmlformats.org/drawingml/2006/main"/>
        </p:blipFill>
        <p:spPr>
          <a:xfrm xmlns:a="http://schemas.openxmlformats.org/drawingml/2006/main">
            <a:off x="5810250" y="1023878"/>
            <a:ext cx="5772150" cy="4581644"/>
          </a:xfrm>
          <a:prstGeom xmlns:a="http://schemas.openxmlformats.org/drawingml/2006/main" prst="rect">
            <a:avLst/>
          </a:prstGeom>
        </p:spPr>
      </p:pic>
    </p:spTree>
    <p:extLst>
      <p:ext uri="{BB962C8B-B14F-4D97-AF65-F5344CB8AC3E}">
        <p14:creationId xmlns:p14="http://schemas.microsoft.com/office/powerpoint/2010/main" val="1921629591"/>
      </p:ext>
    </p:extLst>
  </p:cSld>
</p:sld>
</file>

<file path=ppt/slides/slide2.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7" name="Application architecture">
            <a:extLst xmlns:a="http://schemas.openxmlformats.org/drawingml/2006/main">
              <a:ext uri="{FF2B5EF4-FFF2-40B4-BE49-F238E27FC236}">
                <a16:creationId xmlns:a16="http://schemas.microsoft.com/office/drawing/2014/main" id="{0DA00E73-D7B7-4706-825C-818F989A4180}"/>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Application architecture</a:t>
            </a:r>
          </a:p>
        </p:txBody>
      </p:sp>
      <p:sp>
        <p:nvSpPr>
          <p:cNvPr id="2" name="02">
            <a:extLst xmlns:a="http://schemas.openxmlformats.org/drawingml/2006/main">
              <a:ext uri="{FF2B5EF4-FFF2-40B4-BE49-F238E27FC236}">
                <a16:creationId xmlns:a16="http://schemas.microsoft.com/office/drawing/2014/main" id="{FAF4586A-FBF4-48AC-BE7D-C476A6D36B9E}"/>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862FE972-29B4-4357-83AD-A797F97B39DB}"/>
              </a:ext>
            </a:extLst>
          </p:cNvPr>
          <p:cNvGraphicFramePr/>
          <p:nvPr/>
        </p:nvGraphicFramePr>
        <p:xfrm>
          <a:off xmlns:a="http://schemas.openxmlformats.org/drawingml/2006/main" x="609600" y="1428750"/>
          <a:ext xmlns:a="http://schemas.openxmlformats.org/drawingml/2006/main" cx="10972800" cy="2667000"/>
        </p:xfrm>
        <a:graphic xmlns:a="http://schemas.openxmlformats.org/drawingml/2006/main">
          <a:graphicData uri="http://schemas.openxmlformats.org/drawingml/2006/table">
            <a:tbl>
              <a:tblPr firstRow="1" bandRow="0"/>
              <a:tblGrid>
                <a:gridCol w="3429000"/>
                <a:gridCol w="7543800"/>
              </a:tblGrid>
              <a:tr h="666750">
                <a:tc>
                  <a:txBody>
                    <a:bodyPr/>
                    <a:lstStyle/>
                    <a:p>
                      <a:r>
                        <a:rPr sz="2025" b="1">
                          <a:solidFill>
                            <a:srgbClr val="F5F5ED"/>
                          </a:solidFill>
                          <a:latin typeface="Arial"/>
                          <a:ea typeface="Arial"/>
                          <a:cs typeface="Arial"/>
                        </a:rPr>
                        <a:t>Layer</a:t>
                      </a:r>
                    </a:p>
                  </a:txBody>
                  <a:tcPr marL="171450" marR="171450" marT="133350" marB="133350">
                    <a:lnL w="9525">
                      <a:solidFill>
                        <a:srgbClr val="C9D0C1"/>
                      </a:solidFill>
                      <a:prstDash val="solid"/>
                    </a:lnL>
                    <a:lnR w="9525">
                      <a:solidFill>
                        <a:srgbClr val="C9D0C1"/>
                      </a:solidFill>
                      <a:prstDash val="solid"/>
                    </a:lnR>
                    <a:lnT w="9525">
                      <a:solidFill>
                        <a:srgbClr val="C9D0C1"/>
                      </a:solidFill>
                      <a:prstDash val="solid"/>
                    </a:lnT>
                    <a:lnB w="9525">
                      <a:solidFill>
                        <a:srgbClr val="C9D0C1"/>
                      </a:solidFill>
                      <a:prstDash val="solid"/>
                    </a:lnB>
                    <a:solidFill>
                      <a:srgbClr val="17382B"/>
                    </a:solidFill>
                  </a:tcPr>
                </a:tc>
                <a:tc>
                  <a:txBody>
                    <a:bodyPr/>
                    <a:lstStyle/>
                    <a:p>
                      <a:r>
                        <a:rPr sz="2025" b="1">
                          <a:solidFill>
                            <a:srgbClr val="F5F5ED"/>
                          </a:solidFill>
                          <a:latin typeface="Arial"/>
                          <a:ea typeface="Arial"/>
                          <a:cs typeface="Arial"/>
                        </a:rPr>
                        <a:t>Responsibility</a:t>
                      </a:r>
                    </a:p>
                  </a:txBody>
                  <a:tcPr marL="171450" marR="171450" marT="133350" marB="133350">
                    <a:lnR w="9525">
                      <a:solidFill>
                        <a:srgbClr val="C9D0C1"/>
                      </a:solidFill>
                      <a:prstDash val="solid"/>
                    </a:lnR>
                    <a:lnT w="9525">
                      <a:solidFill>
                        <a:srgbClr val="C9D0C1"/>
                      </a:solidFill>
                      <a:prstDash val="solid"/>
                    </a:lnT>
                    <a:lnB w="9525">
                      <a:solidFill>
                        <a:srgbClr val="C9D0C1"/>
                      </a:solidFill>
                      <a:prstDash val="solid"/>
                    </a:lnB>
                    <a:solidFill>
                      <a:srgbClr val="17382B"/>
                    </a:solidFill>
                  </a:tcPr>
                </a:tc>
              </a:tr>
              <a:tr h="666750">
                <a:tc>
                  <a:txBody>
                    <a:bodyPr/>
                    <a:lstStyle/>
                    <a:p>
                      <a:r>
                        <a:rPr sz="1950">
                          <a:solidFill>
                            <a:srgbClr val="17382B"/>
                          </a:solidFill>
                          <a:latin typeface="Arial"/>
                          <a:ea typeface="Arial"/>
                          <a:cs typeface="Arial"/>
                        </a:rPr>
                        <a:t>HTML, CSS, JavaScript</a:t>
                      </a:r>
                    </a:p>
                  </a:txBody>
                  <a:tcPr marL="171450" marR="171450" marT="133350" marB="133350">
                    <a:lnL w="9525">
                      <a:solidFill>
                        <a:srgbClr val="C9D0C1"/>
                      </a:solidFill>
                      <a:prstDash val="solid"/>
                    </a:lnL>
                    <a:lnR w="9525">
                      <a:solidFill>
                        <a:srgbClr val="C9D0C1"/>
                      </a:solidFill>
                      <a:prstDash val="solid"/>
                    </a:lnR>
                    <a:lnB w="9525">
                      <a:solidFill>
                        <a:srgbClr val="C9D0C1"/>
                      </a:solidFill>
                      <a:prstDash val="solid"/>
                    </a:lnB>
                  </a:tcPr>
                </a:tc>
                <a:tc>
                  <a:txBody>
                    <a:bodyPr/>
                    <a:lstStyle/>
                    <a:p>
                      <a:r>
                        <a:rPr sz="1950">
                          <a:solidFill>
                            <a:srgbClr val="17382B"/>
                          </a:solidFill>
                          <a:latin typeface="Arial"/>
                          <a:ea typeface="Arial"/>
                          <a:cs typeface="Arial"/>
                        </a:rPr>
                        <a:t>Responsive calculator and notebook</a:t>
                      </a:r>
                    </a:p>
                  </a:txBody>
                  <a:tcPr marL="171450" marR="171450" marT="133350" marB="133350">
                    <a:lnR w="9525">
                      <a:solidFill>
                        <a:srgbClr val="C9D0C1"/>
                      </a:solidFill>
                      <a:prstDash val="solid"/>
                    </a:lnR>
                    <a:lnB w="9525">
                      <a:solidFill>
                        <a:srgbClr val="C9D0C1"/>
                      </a:solidFill>
                      <a:prstDash val="solid"/>
                    </a:lnB>
                  </a:tcPr>
                </a:tc>
              </a:tr>
              <a:tr h="666750">
                <a:tc>
                  <a:txBody>
                    <a:bodyPr/>
                    <a:lstStyle/>
                    <a:p>
                      <a:r>
                        <a:rPr sz="1950">
                          <a:solidFill>
                            <a:srgbClr val="17382B"/>
                          </a:solidFill>
                          <a:latin typeface="Arial"/>
                          <a:ea typeface="Arial"/>
                          <a:cs typeface="Arial"/>
                        </a:rPr>
                        <a:t>Python FastAPI</a:t>
                      </a:r>
                    </a:p>
                  </a:txBody>
                  <a:tcPr marL="171450" marR="171450" marT="133350" marB="133350">
                    <a:lnL w="9525">
                      <a:solidFill>
                        <a:srgbClr val="C9D0C1"/>
                      </a:solidFill>
                      <a:prstDash val="solid"/>
                    </a:lnL>
                    <a:lnR w="9525">
                      <a:solidFill>
                        <a:srgbClr val="C9D0C1"/>
                      </a:solidFill>
                      <a:prstDash val="solid"/>
                    </a:lnR>
                    <a:lnB w="9525">
                      <a:solidFill>
                        <a:srgbClr val="C9D0C1"/>
                      </a:solidFill>
                      <a:prstDash val="solid"/>
                    </a:lnB>
                  </a:tcPr>
                </a:tc>
                <a:tc>
                  <a:txBody>
                    <a:bodyPr/>
                    <a:lstStyle/>
                    <a:p>
                      <a:r>
                        <a:rPr sz="1950">
                          <a:solidFill>
                            <a:srgbClr val="17382B"/>
                          </a:solidFill>
                          <a:latin typeface="Arial"/>
                          <a:ea typeface="Arial"/>
                          <a:cs typeface="Arial"/>
                        </a:rPr>
                        <a:t>Evaluate expressions and validate API requests</a:t>
                      </a:r>
                    </a:p>
                  </a:txBody>
                  <a:tcPr marL="171450" marR="171450" marT="133350" marB="133350">
                    <a:lnR w="9525">
                      <a:solidFill>
                        <a:srgbClr val="C9D0C1"/>
                      </a:solidFill>
                      <a:prstDash val="solid"/>
                    </a:lnR>
                    <a:lnB w="9525">
                      <a:solidFill>
                        <a:srgbClr val="C9D0C1"/>
                      </a:solidFill>
                      <a:prstDash val="solid"/>
                    </a:lnB>
                  </a:tcPr>
                </a:tc>
              </a:tr>
              <a:tr h="666750">
                <a:tc>
                  <a:txBody>
                    <a:bodyPr/>
                    <a:lstStyle/>
                    <a:p>
                      <a:r>
                        <a:rPr sz="1950">
                          <a:solidFill>
                            <a:srgbClr val="17382B"/>
                          </a:solidFill>
                          <a:latin typeface="Arial"/>
                          <a:ea typeface="Arial"/>
                          <a:cs typeface="Arial"/>
                        </a:rPr>
                        <a:t>PostgreSQL + Alembic</a:t>
                      </a:r>
                    </a:p>
                  </a:txBody>
                  <a:tcPr marL="171450" marR="171450" marT="133350" marB="133350">
                    <a:lnL w="9525">
                      <a:solidFill>
                        <a:srgbClr val="C9D0C1"/>
                      </a:solidFill>
                      <a:prstDash val="solid"/>
                    </a:lnL>
                    <a:lnR w="9525">
                      <a:solidFill>
                        <a:srgbClr val="C9D0C1"/>
                      </a:solidFill>
                      <a:prstDash val="solid"/>
                    </a:lnR>
                    <a:lnB w="9525">
                      <a:solidFill>
                        <a:srgbClr val="C9D0C1"/>
                      </a:solidFill>
                      <a:prstDash val="solid"/>
                    </a:lnB>
                  </a:tcPr>
                </a:tc>
                <a:tc>
                  <a:txBody>
                    <a:bodyPr/>
                    <a:lstStyle/>
                    <a:p>
                      <a:r>
                        <a:rPr sz="1950">
                          <a:solidFill>
                            <a:srgbClr val="17382B"/>
                          </a:solidFill>
                          <a:latin typeface="Arial"/>
                          <a:ea typeface="Arial"/>
                          <a:cs typeface="Arial"/>
                        </a:rPr>
                        <a:t>Persist calculations and manage schema changes</a:t>
                      </a:r>
                    </a:p>
                  </a:txBody>
                  <a:tcPr marL="171450" marR="171450" marT="133350" marB="133350">
                    <a:lnR w="9525">
                      <a:solidFill>
                        <a:srgbClr val="C9D0C1"/>
                      </a:solidFill>
                      <a:prstDash val="solid"/>
                    </a:lnR>
                    <a:lnB w="9525">
                      <a:solidFill>
                        <a:srgbClr val="C9D0C1"/>
                      </a:solidFill>
                      <a:prstDash val="solid"/>
                    </a:lnB>
                  </a:tcPr>
                </a:tc>
              </a:tr>
            </a:tbl>
          </a:graphicData>
        </a:graphic>
      </p:graphicFrame>
      <p:sp>
        <p:nvSpPr>
          <p:cNvPr id="4" name="REST API">
            <a:extLst xmlns:a="http://schemas.openxmlformats.org/drawingml/2006/main">
              <a:ext uri="{FF2B5EF4-FFF2-40B4-BE49-F238E27FC236}">
                <a16:creationId xmlns:a16="http://schemas.microsoft.com/office/drawing/2014/main" id="{C73DC16D-A37B-4F5C-83D3-9187BEDC11B5}"/>
              </a:ext>
            </a:extLst>
          </p:cNvPr>
          <p:cNvSpPr>
            <a:spLocks xmlns:a="http://schemas.openxmlformats.org/drawingml/2006/main" noGrp="1"/>
          </p:cNvSpPr>
          <p:nvPr/>
        </p:nvSpPr>
        <p:spPr>
          <a:xfrm xmlns:a="http://schemas.openxmlformats.org/drawingml/2006/main">
            <a:off x="609600" y="45339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REST API</a:t>
            </a:r>
          </a:p>
        </p:txBody>
      </p:sp>
      <p:sp>
        <p:nvSpPr>
          <p:cNvPr id="5" name="GET, POST: /api/calculations&#10;PUT, DELETE: /api/calculat">
            <a:extLst xmlns:a="http://schemas.openxmlformats.org/drawingml/2006/main">
              <a:ext uri="{FF2B5EF4-FFF2-40B4-BE49-F238E27FC236}">
                <a16:creationId xmlns:a16="http://schemas.microsoft.com/office/drawing/2014/main" id="{75EC6CB3-18E6-492E-A1FD-283E90310541}"/>
              </a:ext>
            </a:extLst>
          </p:cNvPr>
          <p:cNvSpPr>
            <a:spLocks xmlns:a="http://schemas.openxmlformats.org/drawingml/2006/main" noGrp="1"/>
          </p:cNvSpPr>
          <p:nvPr/>
        </p:nvSpPr>
        <p:spPr>
          <a:xfrm xmlns:a="http://schemas.openxmlformats.org/drawingml/2006/main">
            <a:off x="609600" y="5019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82B"/>
                </a:solidFill>
                <a:latin typeface="Arial"/>
                <a:ea typeface="Arial"/>
                <a:cs typeface="Arial"/>
              </a:defRPr>
            </a:defPPr>
            <a:lvl1pPr>
              <a:defRPr sz="1950" b="0">
                <a:solidFill>
                  <a:srgbClr val="17382B"/>
                </a:solidFill>
                <a:latin typeface="Arial"/>
                <a:ea typeface="Arial"/>
                <a:cs typeface="Arial"/>
              </a:defRPr>
            </a:lvl1pPr>
            <a:lvl2pPr>
              <a:defRPr sz="1950" b="0">
                <a:solidFill>
                  <a:srgbClr val="17382B"/>
                </a:solidFill>
                <a:latin typeface="Arial"/>
                <a:ea typeface="Arial"/>
                <a:cs typeface="Arial"/>
              </a:defRPr>
            </a:lvl2pPr>
            <a:lvl3pPr>
              <a:defRPr sz="1950" b="0">
                <a:solidFill>
                  <a:srgbClr val="17382B"/>
                </a:solidFill>
                <a:latin typeface="Arial"/>
                <a:ea typeface="Arial"/>
                <a:cs typeface="Arial"/>
              </a:defRPr>
            </a:lvl3pPr>
            <a:lvl4pPr>
              <a:defRPr sz="1950" b="0">
                <a:solidFill>
                  <a:srgbClr val="17382B"/>
                </a:solidFill>
                <a:latin typeface="Arial"/>
                <a:ea typeface="Arial"/>
                <a:cs typeface="Arial"/>
              </a:defRPr>
            </a:lvl4pPr>
            <a:lvl5pPr>
              <a:defRPr sz="1950" b="0">
                <a:solidFill>
                  <a:srgbClr val="17382B"/>
                </a:solidFill>
                <a:latin typeface="Arial"/>
                <a:ea typeface="Arial"/>
                <a:cs typeface="Arial"/>
              </a:defRPr>
            </a:lvl5pPr>
            <a:lvl6pPr>
              <a:defRPr sz="1950" b="0">
                <a:solidFill>
                  <a:srgbClr val="17382B"/>
                </a:solidFill>
                <a:latin typeface="Arial"/>
                <a:ea typeface="Arial"/>
                <a:cs typeface="Arial"/>
              </a:defRPr>
            </a:lvl6pPr>
            <a:lvl7pPr>
              <a:defRPr sz="1950" b="0">
                <a:solidFill>
                  <a:srgbClr val="17382B"/>
                </a:solidFill>
                <a:latin typeface="Arial"/>
                <a:ea typeface="Arial"/>
                <a:cs typeface="Arial"/>
              </a:defRPr>
            </a:lvl7pPr>
            <a:lvl8pPr>
              <a:defRPr sz="1950" b="0">
                <a:solidFill>
                  <a:srgbClr val="17382B"/>
                </a:solidFill>
                <a:latin typeface="Arial"/>
                <a:ea typeface="Arial"/>
                <a:cs typeface="Arial"/>
              </a:defRPr>
            </a:lvl8pPr>
            <a:lvl9pPr>
              <a:defRPr sz="1950" b="0">
                <a:solidFill>
                  <a:srgbClr val="17382B"/>
                </a:solidFill>
                <a:latin typeface="Arial"/>
                <a:ea typeface="Arial"/>
                <a:cs typeface="Arial"/>
              </a:defRPr>
            </a:lvl9pPr>
          </a:lstStyle>
          <a:p xmlns:a="http://schemas.openxmlformats.org/drawingml/2006/main">
            <a:pPr>
              <a:defRPr sz="1950" b="0">
                <a:solidFill>
                  <a:srgbClr val="17382B"/>
                </a:solidFill>
                <a:latin typeface="Arial"/>
                <a:ea typeface="Arial"/>
                <a:cs typeface="Arial"/>
              </a:defRPr>
            </a:pPr>
            <a:r>
              <a:rPr sz="1950" b="0">
                <a:solidFill>
                  <a:srgbClr val="17382B"/>
                </a:solidFill>
                <a:latin typeface="Arial"/>
                <a:ea typeface="Arial"/>
                <a:cs typeface="Arial"/>
              </a:rPr>
              <a:t>GET, POST: /api/calculations</a:t>
            </a:r>
          </a:p>
          <a:p xmlns:a="http://schemas.openxmlformats.org/drawingml/2006/main">
            <a:pPr>
              <a:defRPr sz="1950" b="0">
                <a:solidFill>
                  <a:srgbClr val="17382B"/>
                </a:solidFill>
                <a:latin typeface="Arial"/>
                <a:ea typeface="Arial"/>
                <a:cs typeface="Arial"/>
              </a:defRPr>
            </a:pPr>
            <a:r>
              <a:rPr sz="1950" b="0">
                <a:solidFill>
                  <a:srgbClr val="17382B"/>
                </a:solidFill>
                <a:latin typeface="Arial"/>
                <a:ea typeface="Arial"/>
                <a:cs typeface="Arial"/>
              </a:rPr>
              <a:t>PUT, DELETE: /api/calculations/{id}</a:t>
            </a:r>
          </a:p>
        </p:txBody>
      </p:sp>
      <p:sp>
        <p:nvSpPr>
          <p:cNvPr id="6" name="Health: /health     Readiness: /ready     Metrics: /met">
            <a:extLst xmlns:a="http://schemas.openxmlformats.org/drawingml/2006/main">
              <a:ext uri="{FF2B5EF4-FFF2-40B4-BE49-F238E27FC236}">
                <a16:creationId xmlns:a16="http://schemas.microsoft.com/office/drawing/2014/main" id="{40378B8E-EB10-4F3A-BE10-6C705717ED5B}"/>
              </a:ext>
            </a:extLst>
          </p:cNvPr>
          <p:cNvSpPr>
            <a:spLocks xmlns:a="http://schemas.openxmlformats.org/drawingml/2006/main" noGrp="1"/>
          </p:cNvSpPr>
          <p:nvPr/>
        </p:nvSpPr>
        <p:spPr>
          <a:xfrm xmlns:a="http://schemas.openxmlformats.org/drawingml/2006/main">
            <a:off x="609600" y="5857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Health: /health     Readiness: /ready     Metrics: /metrics</a:t>
            </a:r>
          </a:p>
        </p:txBody>
      </p:sp>
    </p:spTree>
    <p:extLst>
      <p:ext uri="{BB962C8B-B14F-4D97-AF65-F5344CB8AC3E}">
        <p14:creationId xmlns:p14="http://schemas.microsoft.com/office/powerpoint/2010/main" val="849466116"/>
      </p:ext>
    </p:extLst>
  </p:cSld>
</p:sld>
</file>

<file path=ppt/slides/slide3.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7" name="Tests and code quality">
            <a:extLst xmlns:a="http://schemas.openxmlformats.org/drawingml/2006/main">
              <a:ext uri="{FF2B5EF4-FFF2-40B4-BE49-F238E27FC236}">
                <a16:creationId xmlns:a16="http://schemas.microsoft.com/office/drawing/2014/main" id="{0B25E007-402F-4944-B8F0-B8DFD09D1AA8}"/>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Tests and code quality</a:t>
            </a:r>
          </a:p>
        </p:txBody>
      </p:sp>
      <p:sp>
        <p:nvSpPr>
          <p:cNvPr id="2" name="03">
            <a:extLst xmlns:a="http://schemas.openxmlformats.org/drawingml/2006/main">
              <a:ext uri="{FF2B5EF4-FFF2-40B4-BE49-F238E27FC236}">
                <a16:creationId xmlns:a16="http://schemas.microsoft.com/office/drawing/2014/main" id="{76818297-0039-49FF-9427-6BE649DDF29C}"/>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03</a:t>
            </a:r>
          </a:p>
        </p:txBody>
      </p:sp>
      <p:sp>
        <p:nvSpPr>
          <p:cNvPr id="3" name="69 tests passed">
            <a:extLst xmlns:a="http://schemas.openxmlformats.org/drawingml/2006/main">
              <a:ext uri="{FF2B5EF4-FFF2-40B4-BE49-F238E27FC236}">
                <a16:creationId xmlns:a16="http://schemas.microsoft.com/office/drawing/2014/main" id="{036E41F2-A2BA-4092-8A4E-92729A8BBA61}"/>
              </a:ext>
            </a:extLst>
          </p:cNvPr>
          <p:cNvSpPr>
            <a:spLocks xmlns:a="http://schemas.openxmlformats.org/drawingml/2006/main" noGrp="1"/>
          </p:cNvSpPr>
          <p:nvPr/>
        </p:nvSpPr>
        <p:spPr>
          <a:xfrm xmlns:a="http://schemas.openxmlformats.org/drawingml/2006/main">
            <a:off x="609600" y="14573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496D37"/>
                </a:solidFill>
                <a:latin typeface="Arial"/>
                <a:ea typeface="Arial"/>
                <a:cs typeface="Arial"/>
              </a:defRPr>
            </a:defPPr>
            <a:lvl1pPr>
              <a:defRPr sz="4800" b="1">
                <a:solidFill>
                  <a:srgbClr val="496D37"/>
                </a:solidFill>
                <a:latin typeface="Arial"/>
                <a:ea typeface="Arial"/>
                <a:cs typeface="Arial"/>
              </a:defRPr>
            </a:lvl1pPr>
            <a:lvl2pPr>
              <a:defRPr sz="4800" b="1">
                <a:solidFill>
                  <a:srgbClr val="496D37"/>
                </a:solidFill>
                <a:latin typeface="Arial"/>
                <a:ea typeface="Arial"/>
                <a:cs typeface="Arial"/>
              </a:defRPr>
            </a:lvl2pPr>
            <a:lvl3pPr>
              <a:defRPr sz="4800" b="1">
                <a:solidFill>
                  <a:srgbClr val="496D37"/>
                </a:solidFill>
                <a:latin typeface="Arial"/>
                <a:ea typeface="Arial"/>
                <a:cs typeface="Arial"/>
              </a:defRPr>
            </a:lvl3pPr>
            <a:lvl4pPr>
              <a:defRPr sz="4800" b="1">
                <a:solidFill>
                  <a:srgbClr val="496D37"/>
                </a:solidFill>
                <a:latin typeface="Arial"/>
                <a:ea typeface="Arial"/>
                <a:cs typeface="Arial"/>
              </a:defRPr>
            </a:lvl4pPr>
            <a:lvl5pPr>
              <a:defRPr sz="4800" b="1">
                <a:solidFill>
                  <a:srgbClr val="496D37"/>
                </a:solidFill>
                <a:latin typeface="Arial"/>
                <a:ea typeface="Arial"/>
                <a:cs typeface="Arial"/>
              </a:defRPr>
            </a:lvl5pPr>
            <a:lvl6pPr>
              <a:defRPr sz="4800" b="1">
                <a:solidFill>
                  <a:srgbClr val="496D37"/>
                </a:solidFill>
                <a:latin typeface="Arial"/>
                <a:ea typeface="Arial"/>
                <a:cs typeface="Arial"/>
              </a:defRPr>
            </a:lvl6pPr>
            <a:lvl7pPr>
              <a:defRPr sz="4800" b="1">
                <a:solidFill>
                  <a:srgbClr val="496D37"/>
                </a:solidFill>
                <a:latin typeface="Arial"/>
                <a:ea typeface="Arial"/>
                <a:cs typeface="Arial"/>
              </a:defRPr>
            </a:lvl7pPr>
            <a:lvl8pPr>
              <a:defRPr sz="4800" b="1">
                <a:solidFill>
                  <a:srgbClr val="496D37"/>
                </a:solidFill>
                <a:latin typeface="Arial"/>
                <a:ea typeface="Arial"/>
                <a:cs typeface="Arial"/>
              </a:defRPr>
            </a:lvl8pPr>
            <a:lvl9pPr>
              <a:defRPr sz="4800" b="1">
                <a:solidFill>
                  <a:srgbClr val="496D37"/>
                </a:solidFill>
                <a:latin typeface="Arial"/>
                <a:ea typeface="Arial"/>
                <a:cs typeface="Arial"/>
              </a:defRPr>
            </a:lvl9pPr>
          </a:lstStyle>
          <a:p xmlns:a="http://schemas.openxmlformats.org/drawingml/2006/main">
            <a:pPr>
              <a:defRPr sz="4800" b="1">
                <a:solidFill>
                  <a:srgbClr val="496D37"/>
                </a:solidFill>
                <a:latin typeface="Arial"/>
                <a:ea typeface="Arial"/>
                <a:cs typeface="Arial"/>
              </a:defRPr>
            </a:pPr>
            <a:r>
              <a:rPr sz="4800" b="1">
                <a:solidFill>
                  <a:srgbClr val="496D37"/>
                </a:solidFill>
                <a:latin typeface="Arial"/>
                <a:ea typeface="Arial"/>
                <a:cs typeface="Arial"/>
              </a:rPr>
              <a:t>69 tests passed</a:t>
            </a:r>
          </a:p>
        </p:txBody>
      </p:sp>
      <p:pic>
        <p:nvPicPr>
          <p:cNvPr id="4" name="">
            <a:extLst xmlns:a="http://schemas.openxmlformats.org/drawingml/2006/main">
              <a:ext uri="{FF2B5EF4-FFF2-40B4-BE49-F238E27FC236}">
                <a16:creationId xmlns:a16="http://schemas.microsoft.com/office/drawing/2014/main" id="{094ED64A-A608-41EC-A691-864DD4128E48}"/>
              </a:ext>
            </a:extLst>
          </p:cNvPr>
          <p:cNvPicPr>
            <a:picLocks xmlns:a="http://schemas.openxmlformats.org/drawingml/2006/main" noChangeAspect="1"/>
          </p:cNvPicPr>
          <p:nvPr/>
        </p:nvPicPr>
        <p:blipFill>
          <a:blip xmlns:r="http://schemas.openxmlformats.org/officeDocument/2006/relationships" xmlns:a="http://schemas.openxmlformats.org/drawingml/2006/main" r:embed="R675a6c92a8e047fb"/>
          <a:stretch xmlns:a="http://schemas.openxmlformats.org/drawingml/2006/main"/>
        </p:blipFill>
        <p:spPr>
          <a:xfrm xmlns:a="http://schemas.openxmlformats.org/drawingml/2006/main">
            <a:off x="609600" y="2525078"/>
            <a:ext cx="10972800" cy="2560320"/>
          </a:xfrm>
          <a:prstGeom xmlns:a="http://schemas.openxmlformats.org/drawingml/2006/main" prst="rect">
            <a:avLst/>
          </a:prstGeom>
        </p:spPr>
      </p:pic>
      <p:sp>
        <p:nvSpPr>
          <p:cNvPr id="5" name="Isolated SQLite locally and disposable PostgreSQL in CI">
            <a:extLst xmlns:a="http://schemas.openxmlformats.org/drawingml/2006/main">
              <a:ext uri="{FF2B5EF4-FFF2-40B4-BE49-F238E27FC236}">
                <a16:creationId xmlns:a16="http://schemas.microsoft.com/office/drawing/2014/main" id="{8BB815E6-2A53-4B4F-B885-4ADDC1253C5A}"/>
              </a:ext>
            </a:extLst>
          </p:cNvPr>
          <p:cNvSpPr>
            <a:spLocks xmlns:a="http://schemas.openxmlformats.org/drawingml/2006/main" noGrp="1"/>
          </p:cNvSpPr>
          <p:nvPr/>
        </p:nvSpPr>
        <p:spPr>
          <a:xfrm xmlns:a="http://schemas.openxmlformats.org/drawingml/2006/main">
            <a:off x="609600" y="53149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82B"/>
                </a:solidFill>
                <a:latin typeface="Arial"/>
                <a:ea typeface="Arial"/>
                <a:cs typeface="Arial"/>
              </a:defRPr>
            </a:defPPr>
            <a:lvl1pPr>
              <a:defRPr sz="2100" b="0">
                <a:solidFill>
                  <a:srgbClr val="17382B"/>
                </a:solidFill>
                <a:latin typeface="Arial"/>
                <a:ea typeface="Arial"/>
                <a:cs typeface="Arial"/>
              </a:defRPr>
            </a:lvl1pPr>
            <a:lvl2pPr>
              <a:defRPr sz="2100" b="0">
                <a:solidFill>
                  <a:srgbClr val="17382B"/>
                </a:solidFill>
                <a:latin typeface="Arial"/>
                <a:ea typeface="Arial"/>
                <a:cs typeface="Arial"/>
              </a:defRPr>
            </a:lvl2pPr>
            <a:lvl3pPr>
              <a:defRPr sz="2100" b="0">
                <a:solidFill>
                  <a:srgbClr val="17382B"/>
                </a:solidFill>
                <a:latin typeface="Arial"/>
                <a:ea typeface="Arial"/>
                <a:cs typeface="Arial"/>
              </a:defRPr>
            </a:lvl3pPr>
            <a:lvl4pPr>
              <a:defRPr sz="2100" b="0">
                <a:solidFill>
                  <a:srgbClr val="17382B"/>
                </a:solidFill>
                <a:latin typeface="Arial"/>
                <a:ea typeface="Arial"/>
                <a:cs typeface="Arial"/>
              </a:defRPr>
            </a:lvl4pPr>
            <a:lvl5pPr>
              <a:defRPr sz="2100" b="0">
                <a:solidFill>
                  <a:srgbClr val="17382B"/>
                </a:solidFill>
                <a:latin typeface="Arial"/>
                <a:ea typeface="Arial"/>
                <a:cs typeface="Arial"/>
              </a:defRPr>
            </a:lvl5pPr>
            <a:lvl6pPr>
              <a:defRPr sz="2100" b="0">
                <a:solidFill>
                  <a:srgbClr val="17382B"/>
                </a:solidFill>
                <a:latin typeface="Arial"/>
                <a:ea typeface="Arial"/>
                <a:cs typeface="Arial"/>
              </a:defRPr>
            </a:lvl6pPr>
            <a:lvl7pPr>
              <a:defRPr sz="2100" b="0">
                <a:solidFill>
                  <a:srgbClr val="17382B"/>
                </a:solidFill>
                <a:latin typeface="Arial"/>
                <a:ea typeface="Arial"/>
                <a:cs typeface="Arial"/>
              </a:defRPr>
            </a:lvl7pPr>
            <a:lvl8pPr>
              <a:defRPr sz="2100" b="0">
                <a:solidFill>
                  <a:srgbClr val="17382B"/>
                </a:solidFill>
                <a:latin typeface="Arial"/>
                <a:ea typeface="Arial"/>
                <a:cs typeface="Arial"/>
              </a:defRPr>
            </a:lvl8pPr>
            <a:lvl9pPr>
              <a:defRPr sz="2100" b="0">
                <a:solidFill>
                  <a:srgbClr val="17382B"/>
                </a:solidFill>
                <a:latin typeface="Arial"/>
                <a:ea typeface="Arial"/>
                <a:cs typeface="Arial"/>
              </a:defRPr>
            </a:lvl9pPr>
          </a:lstStyle>
          <a:p xmlns:a="http://schemas.openxmlformats.org/drawingml/2006/main">
            <a:pPr>
              <a:defRPr sz="2100" b="0">
                <a:solidFill>
                  <a:srgbClr val="17382B"/>
                </a:solidFill>
                <a:latin typeface="Arial"/>
                <a:ea typeface="Arial"/>
                <a:cs typeface="Arial"/>
              </a:defRPr>
            </a:pPr>
            <a:r>
              <a:rPr sz="2100" b="0">
                <a:solidFill>
                  <a:srgbClr val="17382B"/>
                </a:solidFill>
                <a:latin typeface="Arial"/>
                <a:ea typeface="Arial"/>
                <a:cs typeface="Arial"/>
              </a:rPr>
              <a:t>Isolated SQLite locally and disposable PostgreSQL in CI</a:t>
            </a:r>
          </a:p>
        </p:txBody>
      </p:sp>
      <p:sp>
        <p:nvSpPr>
          <p:cNvPr id="6" name="Four frontend tests, a production build and Ruff checks">
            <a:extLst xmlns:a="http://schemas.openxmlformats.org/drawingml/2006/main">
              <a:ext uri="{FF2B5EF4-FFF2-40B4-BE49-F238E27FC236}">
                <a16:creationId xmlns:a16="http://schemas.microsoft.com/office/drawing/2014/main" id="{F67FA34C-5DBC-4CB5-ABA3-585170A84310}"/>
              </a:ext>
            </a:extLst>
          </p:cNvPr>
          <p:cNvSpPr>
            <a:spLocks xmlns:a="http://schemas.openxmlformats.org/drawingml/2006/main" noGrp="1"/>
          </p:cNvSpPr>
          <p:nvPr/>
        </p:nvSpPr>
        <p:spPr>
          <a:xfrm xmlns:a="http://schemas.openxmlformats.org/drawingml/2006/main">
            <a:off x="609600" y="58388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Four frontend tests, a production build and Ruff checks also pass</a:t>
            </a:r>
          </a:p>
        </p:txBody>
      </p:sp>
    </p:spTree>
    <p:extLst>
      <p:ext uri="{BB962C8B-B14F-4D97-AF65-F5344CB8AC3E}">
        <p14:creationId xmlns:p14="http://schemas.microsoft.com/office/powerpoint/2010/main" val="263258783"/>
      </p:ext>
    </p:extLst>
  </p:cSld>
</p:sld>
</file>

<file path=ppt/slides/slide4.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8" name="Docker and local development">
            <a:extLst xmlns:a="http://schemas.openxmlformats.org/drawingml/2006/main">
              <a:ext uri="{FF2B5EF4-FFF2-40B4-BE49-F238E27FC236}">
                <a16:creationId xmlns:a16="http://schemas.microsoft.com/office/drawing/2014/main" id="{E746B524-4A5A-4E88-AAAE-8D3F23D5181C}"/>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Docker and local development</a:t>
            </a:r>
          </a:p>
        </p:txBody>
      </p:sp>
      <p:sp>
        <p:nvSpPr>
          <p:cNvPr id="2" name="04">
            <a:extLst xmlns:a="http://schemas.openxmlformats.org/drawingml/2006/main">
              <a:ext uri="{FF2B5EF4-FFF2-40B4-BE49-F238E27FC236}">
                <a16:creationId xmlns:a16="http://schemas.microsoft.com/office/drawing/2014/main" id="{94E7DD73-B6C8-4A0B-86DB-D6B9C45CA820}"/>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DD64C9B2-D58E-4FAA-BA73-D2DB25852CC2}"/>
              </a:ext>
            </a:extLst>
          </p:cNvPr>
          <p:cNvPicPr>
            <a:picLocks xmlns:a="http://schemas.openxmlformats.org/drawingml/2006/main" noChangeAspect="1"/>
          </p:cNvPicPr>
          <p:nvPr/>
        </p:nvPicPr>
        <p:blipFill>
          <a:blip xmlns:r="http://schemas.openxmlformats.org/officeDocument/2006/relationships" xmlns:a="http://schemas.openxmlformats.org/drawingml/2006/main" r:embed="Rbb32bdc007b6406a"/>
          <a:stretch xmlns:a="http://schemas.openxmlformats.org/drawingml/2006/main"/>
        </p:blipFill>
        <p:spPr>
          <a:xfrm xmlns:a="http://schemas.openxmlformats.org/drawingml/2006/main">
            <a:off x="609600" y="1524953"/>
            <a:ext cx="10972800" cy="2560320"/>
          </a:xfrm>
          <a:prstGeom xmlns:a="http://schemas.openxmlformats.org/drawingml/2006/main" prst="rect">
            <a:avLst/>
          </a:prstGeom>
        </p:spPr>
      </p:pic>
      <p:sp>
        <p:nvSpPr>
          <p:cNvPr id="4" name="Three healthy services">
            <a:extLst xmlns:a="http://schemas.openxmlformats.org/drawingml/2006/main">
              <a:ext uri="{FF2B5EF4-FFF2-40B4-BE49-F238E27FC236}">
                <a16:creationId xmlns:a16="http://schemas.microsoft.com/office/drawing/2014/main" id="{E8C8B020-39E5-4AF8-B193-BA4397541C83}"/>
              </a:ext>
            </a:extLst>
          </p:cNvPr>
          <p:cNvSpPr>
            <a:spLocks xmlns:a="http://schemas.openxmlformats.org/drawingml/2006/main" noGrp="1"/>
          </p:cNvSpPr>
          <p:nvPr/>
        </p:nvSpPr>
        <p:spPr>
          <a:xfrm xmlns:a="http://schemas.openxmlformats.org/drawingml/2006/main">
            <a:off x="609600" y="44481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82B"/>
                </a:solidFill>
                <a:latin typeface="Arial"/>
                <a:ea typeface="Arial"/>
                <a:cs typeface="Arial"/>
              </a:defRPr>
            </a:defPPr>
            <a:lvl1pPr>
              <a:defRPr sz="2400" b="1">
                <a:solidFill>
                  <a:srgbClr val="17382B"/>
                </a:solidFill>
                <a:latin typeface="Arial"/>
                <a:ea typeface="Arial"/>
                <a:cs typeface="Arial"/>
              </a:defRPr>
            </a:lvl1pPr>
            <a:lvl2pPr>
              <a:defRPr sz="2400" b="1">
                <a:solidFill>
                  <a:srgbClr val="17382B"/>
                </a:solidFill>
                <a:latin typeface="Arial"/>
                <a:ea typeface="Arial"/>
                <a:cs typeface="Arial"/>
              </a:defRPr>
            </a:lvl2pPr>
            <a:lvl3pPr>
              <a:defRPr sz="2400" b="1">
                <a:solidFill>
                  <a:srgbClr val="17382B"/>
                </a:solidFill>
                <a:latin typeface="Arial"/>
                <a:ea typeface="Arial"/>
                <a:cs typeface="Arial"/>
              </a:defRPr>
            </a:lvl3pPr>
            <a:lvl4pPr>
              <a:defRPr sz="2400" b="1">
                <a:solidFill>
                  <a:srgbClr val="17382B"/>
                </a:solidFill>
                <a:latin typeface="Arial"/>
                <a:ea typeface="Arial"/>
                <a:cs typeface="Arial"/>
              </a:defRPr>
            </a:lvl4pPr>
            <a:lvl5pPr>
              <a:defRPr sz="2400" b="1">
                <a:solidFill>
                  <a:srgbClr val="17382B"/>
                </a:solidFill>
                <a:latin typeface="Arial"/>
                <a:ea typeface="Arial"/>
                <a:cs typeface="Arial"/>
              </a:defRPr>
            </a:lvl5pPr>
            <a:lvl6pPr>
              <a:defRPr sz="2400" b="1">
                <a:solidFill>
                  <a:srgbClr val="17382B"/>
                </a:solidFill>
                <a:latin typeface="Arial"/>
                <a:ea typeface="Arial"/>
                <a:cs typeface="Arial"/>
              </a:defRPr>
            </a:lvl6pPr>
            <a:lvl7pPr>
              <a:defRPr sz="2400" b="1">
                <a:solidFill>
                  <a:srgbClr val="17382B"/>
                </a:solidFill>
                <a:latin typeface="Arial"/>
                <a:ea typeface="Arial"/>
                <a:cs typeface="Arial"/>
              </a:defRPr>
            </a:lvl7pPr>
            <a:lvl8pPr>
              <a:defRPr sz="2400" b="1">
                <a:solidFill>
                  <a:srgbClr val="17382B"/>
                </a:solidFill>
                <a:latin typeface="Arial"/>
                <a:ea typeface="Arial"/>
                <a:cs typeface="Arial"/>
              </a:defRPr>
            </a:lvl8pPr>
            <a:lvl9pPr>
              <a:defRPr sz="2400" b="1">
                <a:solidFill>
                  <a:srgbClr val="17382B"/>
                </a:solidFill>
                <a:latin typeface="Arial"/>
                <a:ea typeface="Arial"/>
                <a:cs typeface="Arial"/>
              </a:defRPr>
            </a:lvl9pPr>
          </a:lstStyle>
          <a:p xmlns:a="http://schemas.openxmlformats.org/drawingml/2006/main">
            <a:pPr>
              <a:defRPr sz="2400" b="1">
                <a:solidFill>
                  <a:srgbClr val="17382B"/>
                </a:solidFill>
                <a:latin typeface="Arial"/>
                <a:ea typeface="Arial"/>
                <a:cs typeface="Arial"/>
              </a:defRPr>
            </a:pPr>
            <a:r>
              <a:rPr sz="2400" b="1">
                <a:solidFill>
                  <a:srgbClr val="17382B"/>
                </a:solidFill>
                <a:latin typeface="Arial"/>
                <a:ea typeface="Arial"/>
                <a:cs typeface="Arial"/>
              </a:rPr>
              <a:t>Three healthy services</a:t>
            </a:r>
          </a:p>
        </p:txBody>
      </p:sp>
      <p:sp>
        <p:nvSpPr>
          <p:cNvPr id="5" name="Frontend, backend and PostgreSQL">
            <a:extLst xmlns:a="http://schemas.openxmlformats.org/drawingml/2006/main">
              <a:ext uri="{FF2B5EF4-FFF2-40B4-BE49-F238E27FC236}">
                <a16:creationId xmlns:a16="http://schemas.microsoft.com/office/drawing/2014/main" id="{55E1F565-CBB1-4F03-B4EF-043B7EA31E6E}"/>
              </a:ext>
            </a:extLst>
          </p:cNvPr>
          <p:cNvSpPr>
            <a:spLocks xmlns:a="http://schemas.openxmlformats.org/drawingml/2006/main" noGrp="1"/>
          </p:cNvSpPr>
          <p:nvPr/>
        </p:nvSpPr>
        <p:spPr>
          <a:xfrm xmlns:a="http://schemas.openxmlformats.org/drawingml/2006/main">
            <a:off x="609600" y="49720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46455"/>
                </a:solidFill>
                <a:latin typeface="Arial"/>
                <a:ea typeface="Arial"/>
                <a:cs typeface="Arial"/>
              </a:defRPr>
            </a:defPPr>
            <a:lvl1pPr>
              <a:defRPr sz="2100" b="0">
                <a:solidFill>
                  <a:srgbClr val="546455"/>
                </a:solidFill>
                <a:latin typeface="Arial"/>
                <a:ea typeface="Arial"/>
                <a:cs typeface="Arial"/>
              </a:defRPr>
            </a:lvl1pPr>
            <a:lvl2pPr>
              <a:defRPr sz="2100" b="0">
                <a:solidFill>
                  <a:srgbClr val="546455"/>
                </a:solidFill>
                <a:latin typeface="Arial"/>
                <a:ea typeface="Arial"/>
                <a:cs typeface="Arial"/>
              </a:defRPr>
            </a:lvl2pPr>
            <a:lvl3pPr>
              <a:defRPr sz="2100" b="0">
                <a:solidFill>
                  <a:srgbClr val="546455"/>
                </a:solidFill>
                <a:latin typeface="Arial"/>
                <a:ea typeface="Arial"/>
                <a:cs typeface="Arial"/>
              </a:defRPr>
            </a:lvl3pPr>
            <a:lvl4pPr>
              <a:defRPr sz="2100" b="0">
                <a:solidFill>
                  <a:srgbClr val="546455"/>
                </a:solidFill>
                <a:latin typeface="Arial"/>
                <a:ea typeface="Arial"/>
                <a:cs typeface="Arial"/>
              </a:defRPr>
            </a:lvl4pPr>
            <a:lvl5pPr>
              <a:defRPr sz="2100" b="0">
                <a:solidFill>
                  <a:srgbClr val="546455"/>
                </a:solidFill>
                <a:latin typeface="Arial"/>
                <a:ea typeface="Arial"/>
                <a:cs typeface="Arial"/>
              </a:defRPr>
            </a:lvl5pPr>
            <a:lvl6pPr>
              <a:defRPr sz="2100" b="0">
                <a:solidFill>
                  <a:srgbClr val="546455"/>
                </a:solidFill>
                <a:latin typeface="Arial"/>
                <a:ea typeface="Arial"/>
                <a:cs typeface="Arial"/>
              </a:defRPr>
            </a:lvl6pPr>
            <a:lvl7pPr>
              <a:defRPr sz="2100" b="0">
                <a:solidFill>
                  <a:srgbClr val="546455"/>
                </a:solidFill>
                <a:latin typeface="Arial"/>
                <a:ea typeface="Arial"/>
                <a:cs typeface="Arial"/>
              </a:defRPr>
            </a:lvl7pPr>
            <a:lvl8pPr>
              <a:defRPr sz="2100" b="0">
                <a:solidFill>
                  <a:srgbClr val="546455"/>
                </a:solidFill>
                <a:latin typeface="Arial"/>
                <a:ea typeface="Arial"/>
                <a:cs typeface="Arial"/>
              </a:defRPr>
            </a:lvl8pPr>
            <a:lvl9pPr>
              <a:defRPr sz="2100" b="0">
                <a:solidFill>
                  <a:srgbClr val="546455"/>
                </a:solidFill>
                <a:latin typeface="Arial"/>
                <a:ea typeface="Arial"/>
                <a:cs typeface="Arial"/>
              </a:defRPr>
            </a:lvl9pPr>
          </a:lstStyle>
          <a:p xmlns:a="http://schemas.openxmlformats.org/drawingml/2006/main">
            <a:pPr>
              <a:defRPr sz="2100" b="0">
                <a:solidFill>
                  <a:srgbClr val="546455"/>
                </a:solidFill>
                <a:latin typeface="Arial"/>
                <a:ea typeface="Arial"/>
                <a:cs typeface="Arial"/>
              </a:defRPr>
            </a:pPr>
            <a:r>
              <a:rPr sz="2100" b="0">
                <a:solidFill>
                  <a:srgbClr val="546455"/>
                </a:solidFill>
                <a:latin typeface="Arial"/>
                <a:ea typeface="Arial"/>
                <a:cs typeface="Arial"/>
              </a:rPr>
              <a:t>Frontend, backend and PostgreSQL</a:t>
            </a:r>
          </a:p>
        </p:txBody>
      </p:sp>
      <p:sp>
        <p:nvSpPr>
          <p:cNvPr id="6" name="Non-root application images">
            <a:extLst xmlns:a="http://schemas.openxmlformats.org/drawingml/2006/main">
              <a:ext uri="{FF2B5EF4-FFF2-40B4-BE49-F238E27FC236}">
                <a16:creationId xmlns:a16="http://schemas.microsoft.com/office/drawing/2014/main" id="{A25FC177-7AF0-4DF5-83CF-E433C48EA570}"/>
              </a:ext>
            </a:extLst>
          </p:cNvPr>
          <p:cNvSpPr>
            <a:spLocks xmlns:a="http://schemas.openxmlformats.org/drawingml/2006/main" noGrp="1"/>
          </p:cNvSpPr>
          <p:nvPr/>
        </p:nvSpPr>
        <p:spPr>
          <a:xfrm xmlns:a="http://schemas.openxmlformats.org/drawingml/2006/main">
            <a:off x="6286500" y="4448175"/>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82B"/>
                </a:solidFill>
                <a:latin typeface="Arial"/>
                <a:ea typeface="Arial"/>
                <a:cs typeface="Arial"/>
              </a:defRPr>
            </a:defPPr>
            <a:lvl1pPr>
              <a:defRPr sz="2400" b="1">
                <a:solidFill>
                  <a:srgbClr val="17382B"/>
                </a:solidFill>
                <a:latin typeface="Arial"/>
                <a:ea typeface="Arial"/>
                <a:cs typeface="Arial"/>
              </a:defRPr>
            </a:lvl1pPr>
            <a:lvl2pPr>
              <a:defRPr sz="2400" b="1">
                <a:solidFill>
                  <a:srgbClr val="17382B"/>
                </a:solidFill>
                <a:latin typeface="Arial"/>
                <a:ea typeface="Arial"/>
                <a:cs typeface="Arial"/>
              </a:defRPr>
            </a:lvl2pPr>
            <a:lvl3pPr>
              <a:defRPr sz="2400" b="1">
                <a:solidFill>
                  <a:srgbClr val="17382B"/>
                </a:solidFill>
                <a:latin typeface="Arial"/>
                <a:ea typeface="Arial"/>
                <a:cs typeface="Arial"/>
              </a:defRPr>
            </a:lvl3pPr>
            <a:lvl4pPr>
              <a:defRPr sz="2400" b="1">
                <a:solidFill>
                  <a:srgbClr val="17382B"/>
                </a:solidFill>
                <a:latin typeface="Arial"/>
                <a:ea typeface="Arial"/>
                <a:cs typeface="Arial"/>
              </a:defRPr>
            </a:lvl4pPr>
            <a:lvl5pPr>
              <a:defRPr sz="2400" b="1">
                <a:solidFill>
                  <a:srgbClr val="17382B"/>
                </a:solidFill>
                <a:latin typeface="Arial"/>
                <a:ea typeface="Arial"/>
                <a:cs typeface="Arial"/>
              </a:defRPr>
            </a:lvl5pPr>
            <a:lvl6pPr>
              <a:defRPr sz="2400" b="1">
                <a:solidFill>
                  <a:srgbClr val="17382B"/>
                </a:solidFill>
                <a:latin typeface="Arial"/>
                <a:ea typeface="Arial"/>
                <a:cs typeface="Arial"/>
              </a:defRPr>
            </a:lvl6pPr>
            <a:lvl7pPr>
              <a:defRPr sz="2400" b="1">
                <a:solidFill>
                  <a:srgbClr val="17382B"/>
                </a:solidFill>
                <a:latin typeface="Arial"/>
                <a:ea typeface="Arial"/>
                <a:cs typeface="Arial"/>
              </a:defRPr>
            </a:lvl7pPr>
            <a:lvl8pPr>
              <a:defRPr sz="2400" b="1">
                <a:solidFill>
                  <a:srgbClr val="17382B"/>
                </a:solidFill>
                <a:latin typeface="Arial"/>
                <a:ea typeface="Arial"/>
                <a:cs typeface="Arial"/>
              </a:defRPr>
            </a:lvl8pPr>
            <a:lvl9pPr>
              <a:defRPr sz="2400" b="1">
                <a:solidFill>
                  <a:srgbClr val="17382B"/>
                </a:solidFill>
                <a:latin typeface="Arial"/>
                <a:ea typeface="Arial"/>
                <a:cs typeface="Arial"/>
              </a:defRPr>
            </a:lvl9pPr>
          </a:lstStyle>
          <a:p xmlns:a="http://schemas.openxmlformats.org/drawingml/2006/main">
            <a:pPr>
              <a:defRPr sz="2400" b="1">
                <a:solidFill>
                  <a:srgbClr val="17382B"/>
                </a:solidFill>
                <a:latin typeface="Arial"/>
                <a:ea typeface="Arial"/>
                <a:cs typeface="Arial"/>
              </a:defRPr>
            </a:pPr>
            <a:r>
              <a:rPr sz="2400" b="1">
                <a:solidFill>
                  <a:srgbClr val="17382B"/>
                </a:solidFill>
                <a:latin typeface="Arial"/>
                <a:ea typeface="Arial"/>
                <a:cs typeface="Arial"/>
              </a:rPr>
              <a:t>Non-root application images</a:t>
            </a:r>
          </a:p>
        </p:txBody>
      </p:sp>
      <p:sp>
        <p:nvSpPr>
          <p:cNvPr id="7" name="Backend UID 10001, frontend UID 101&#10;Node build and Ngin">
            <a:extLst xmlns:a="http://schemas.openxmlformats.org/drawingml/2006/main">
              <a:ext uri="{FF2B5EF4-FFF2-40B4-BE49-F238E27FC236}">
                <a16:creationId xmlns:a16="http://schemas.microsoft.com/office/drawing/2014/main" id="{BCC1923F-36C0-447F-8318-BF89ADEA1933}"/>
              </a:ext>
            </a:extLst>
          </p:cNvPr>
          <p:cNvSpPr>
            <a:spLocks xmlns:a="http://schemas.openxmlformats.org/drawingml/2006/main" noGrp="1"/>
          </p:cNvSpPr>
          <p:nvPr/>
        </p:nvSpPr>
        <p:spPr>
          <a:xfrm xmlns:a="http://schemas.openxmlformats.org/drawingml/2006/main">
            <a:off x="6286500" y="4972050"/>
            <a:ext cx="5295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455"/>
                </a:solidFill>
                <a:latin typeface="Arial"/>
                <a:ea typeface="Arial"/>
                <a:cs typeface="Arial"/>
              </a:defRPr>
            </a:defPPr>
            <a:lvl1pPr>
              <a:defRPr sz="1950" b="0">
                <a:solidFill>
                  <a:srgbClr val="546455"/>
                </a:solidFill>
                <a:latin typeface="Arial"/>
                <a:ea typeface="Arial"/>
                <a:cs typeface="Arial"/>
              </a:defRPr>
            </a:lvl1pPr>
            <a:lvl2pPr>
              <a:defRPr sz="1950" b="0">
                <a:solidFill>
                  <a:srgbClr val="546455"/>
                </a:solidFill>
                <a:latin typeface="Arial"/>
                <a:ea typeface="Arial"/>
                <a:cs typeface="Arial"/>
              </a:defRPr>
            </a:lvl2pPr>
            <a:lvl3pPr>
              <a:defRPr sz="1950" b="0">
                <a:solidFill>
                  <a:srgbClr val="546455"/>
                </a:solidFill>
                <a:latin typeface="Arial"/>
                <a:ea typeface="Arial"/>
                <a:cs typeface="Arial"/>
              </a:defRPr>
            </a:lvl3pPr>
            <a:lvl4pPr>
              <a:defRPr sz="1950" b="0">
                <a:solidFill>
                  <a:srgbClr val="546455"/>
                </a:solidFill>
                <a:latin typeface="Arial"/>
                <a:ea typeface="Arial"/>
                <a:cs typeface="Arial"/>
              </a:defRPr>
            </a:lvl4pPr>
            <a:lvl5pPr>
              <a:defRPr sz="1950" b="0">
                <a:solidFill>
                  <a:srgbClr val="546455"/>
                </a:solidFill>
                <a:latin typeface="Arial"/>
                <a:ea typeface="Arial"/>
                <a:cs typeface="Arial"/>
              </a:defRPr>
            </a:lvl5pPr>
            <a:lvl6pPr>
              <a:defRPr sz="1950" b="0">
                <a:solidFill>
                  <a:srgbClr val="546455"/>
                </a:solidFill>
                <a:latin typeface="Arial"/>
                <a:ea typeface="Arial"/>
                <a:cs typeface="Arial"/>
              </a:defRPr>
            </a:lvl6pPr>
            <a:lvl7pPr>
              <a:defRPr sz="1950" b="0">
                <a:solidFill>
                  <a:srgbClr val="546455"/>
                </a:solidFill>
                <a:latin typeface="Arial"/>
                <a:ea typeface="Arial"/>
                <a:cs typeface="Arial"/>
              </a:defRPr>
            </a:lvl7pPr>
            <a:lvl8pPr>
              <a:defRPr sz="1950" b="0">
                <a:solidFill>
                  <a:srgbClr val="546455"/>
                </a:solidFill>
                <a:latin typeface="Arial"/>
                <a:ea typeface="Arial"/>
                <a:cs typeface="Arial"/>
              </a:defRPr>
            </a:lvl8pPr>
            <a:lvl9pPr>
              <a:defRPr sz="1950" b="0">
                <a:solidFill>
                  <a:srgbClr val="546455"/>
                </a:solidFill>
                <a:latin typeface="Arial"/>
                <a:ea typeface="Arial"/>
                <a:cs typeface="Arial"/>
              </a:defRPr>
            </a:lvl9pPr>
          </a:lstStyle>
          <a:p xmlns:a="http://schemas.openxmlformats.org/drawingml/2006/main">
            <a:pPr>
              <a:defRPr sz="1950" b="0">
                <a:solidFill>
                  <a:srgbClr val="546455"/>
                </a:solidFill>
                <a:latin typeface="Arial"/>
                <a:ea typeface="Arial"/>
                <a:cs typeface="Arial"/>
              </a:defRPr>
            </a:pPr>
            <a:r>
              <a:rPr sz="1950" b="0">
                <a:solidFill>
                  <a:srgbClr val="546455"/>
                </a:solidFill>
                <a:latin typeface="Arial"/>
                <a:ea typeface="Arial"/>
                <a:cs typeface="Arial"/>
              </a:rPr>
              <a:t>Backend UID 10001, frontend UID 101</a:t>
            </a:r>
          </a:p>
          <a:p xmlns:a="http://schemas.openxmlformats.org/drawingml/2006/main">
            <a:pPr>
              <a:defRPr sz="1950" b="0">
                <a:solidFill>
                  <a:srgbClr val="546455"/>
                </a:solidFill>
                <a:latin typeface="Arial"/>
                <a:ea typeface="Arial"/>
                <a:cs typeface="Arial"/>
              </a:defRPr>
            </a:pPr>
            <a:r>
              <a:rPr sz="1950" b="0">
                <a:solidFill>
                  <a:srgbClr val="546455"/>
                </a:solidFill>
                <a:latin typeface="Arial"/>
                <a:ea typeface="Arial"/>
                <a:cs typeface="Arial"/>
              </a:rPr>
              <a:t>Node build and Nginx runtime stages</a:t>
            </a:r>
          </a:p>
        </p:txBody>
      </p:sp>
    </p:spTree>
    <p:extLst>
      <p:ext uri="{BB962C8B-B14F-4D97-AF65-F5344CB8AC3E}">
        <p14:creationId xmlns:p14="http://schemas.microsoft.com/office/powerpoint/2010/main" val="1859489190"/>
      </p:ext>
    </p:extLst>
  </p:cSld>
</p:sld>
</file>

<file path=ppt/slides/slide5.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11" name="GitHub Actions and GHCR">
            <a:extLst xmlns:a="http://schemas.openxmlformats.org/drawingml/2006/main">
              <a:ext uri="{FF2B5EF4-FFF2-40B4-BE49-F238E27FC236}">
                <a16:creationId xmlns:a16="http://schemas.microsoft.com/office/drawing/2014/main" id="{14A3594F-E1DC-4076-BFD0-C7BC17B36B5A}"/>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GitHub Actions and GHCR</a:t>
            </a:r>
          </a:p>
        </p:txBody>
      </p:sp>
      <p:sp>
        <p:nvSpPr>
          <p:cNvPr id="2" name="05">
            <a:extLst xmlns:a="http://schemas.openxmlformats.org/drawingml/2006/main">
              <a:ext uri="{FF2B5EF4-FFF2-40B4-BE49-F238E27FC236}">
                <a16:creationId xmlns:a16="http://schemas.microsoft.com/office/drawing/2014/main" id="{E39B4449-D315-4348-8FB6-E79433B39560}"/>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05</a:t>
            </a:r>
          </a:p>
        </p:txBody>
      </p:sp>
      <p:sp>
        <p:nvSpPr>
          <p:cNvPr id="3" name="Version control">
            <a:extLst xmlns:a="http://schemas.openxmlformats.org/drawingml/2006/main">
              <a:ext uri="{FF2B5EF4-FFF2-40B4-BE49-F238E27FC236}">
                <a16:creationId xmlns:a16="http://schemas.microsoft.com/office/drawing/2014/main" id="{EC036092-3F88-4AAE-BA23-BA310CB0DA49}"/>
              </a:ext>
            </a:extLst>
          </p:cNvPr>
          <p:cNvSpPr>
            <a:spLocks xmlns:a="http://schemas.openxmlformats.org/drawingml/2006/main" noGrp="1"/>
          </p:cNvSpPr>
          <p:nvPr/>
        </p:nvSpPr>
        <p:spPr>
          <a:xfrm xmlns:a="http://schemas.openxmlformats.org/drawingml/2006/main">
            <a:off x="609600" y="14859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Version control</a:t>
            </a:r>
          </a:p>
        </p:txBody>
      </p:sp>
      <p:sp>
        <p:nvSpPr>
          <p:cNvPr id="4" name="Public repository and meaningful commit history">
            <a:extLst xmlns:a="http://schemas.openxmlformats.org/drawingml/2006/main">
              <a:ext uri="{FF2B5EF4-FFF2-40B4-BE49-F238E27FC236}">
                <a16:creationId xmlns:a16="http://schemas.microsoft.com/office/drawing/2014/main" id="{3CA17D8D-6EAB-477E-904C-4298A70D841E}"/>
              </a:ext>
            </a:extLst>
          </p:cNvPr>
          <p:cNvSpPr>
            <a:spLocks xmlns:a="http://schemas.openxmlformats.org/drawingml/2006/main" noGrp="1"/>
          </p:cNvSpPr>
          <p:nvPr/>
        </p:nvSpPr>
        <p:spPr>
          <a:xfrm xmlns:a="http://schemas.openxmlformats.org/drawingml/2006/main">
            <a:off x="609600" y="1914525"/>
            <a:ext cx="342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Public repository and meaningful commit history</a:t>
            </a:r>
          </a:p>
        </p:txBody>
      </p:sp>
      <p:sp>
        <p:nvSpPr>
          <p:cNvPr id="5" name="Quality gates">
            <a:extLst xmlns:a="http://schemas.openxmlformats.org/drawingml/2006/main">
              <a:ext uri="{FF2B5EF4-FFF2-40B4-BE49-F238E27FC236}">
                <a16:creationId xmlns:a16="http://schemas.microsoft.com/office/drawing/2014/main" id="{681675F2-1E69-4319-A2C1-8F40A66CB472}"/>
              </a:ext>
            </a:extLst>
          </p:cNvPr>
          <p:cNvSpPr>
            <a:spLocks xmlns:a="http://schemas.openxmlformats.org/drawingml/2006/main" noGrp="1"/>
          </p:cNvSpPr>
          <p:nvPr/>
        </p:nvSpPr>
        <p:spPr>
          <a:xfrm xmlns:a="http://schemas.openxmlformats.org/drawingml/2006/main">
            <a:off x="609600" y="29527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Quality gates</a:t>
            </a:r>
          </a:p>
        </p:txBody>
      </p:sp>
      <p:sp>
        <p:nvSpPr>
          <p:cNvPr id="6" name="Tests and both Trivy image scans precede publishing">
            <a:extLst xmlns:a="http://schemas.openxmlformats.org/drawingml/2006/main">
              <a:ext uri="{FF2B5EF4-FFF2-40B4-BE49-F238E27FC236}">
                <a16:creationId xmlns:a16="http://schemas.microsoft.com/office/drawing/2014/main" id="{79ECAAB9-2058-408F-8E5F-7C9FB5ED9BD1}"/>
              </a:ext>
            </a:extLst>
          </p:cNvPr>
          <p:cNvSpPr>
            <a:spLocks xmlns:a="http://schemas.openxmlformats.org/drawingml/2006/main" noGrp="1"/>
          </p:cNvSpPr>
          <p:nvPr/>
        </p:nvSpPr>
        <p:spPr>
          <a:xfrm xmlns:a="http://schemas.openxmlformats.org/drawingml/2006/main">
            <a:off x="609600" y="3381375"/>
            <a:ext cx="342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Tests and both Trivy image scans precede publishing</a:t>
            </a:r>
          </a:p>
        </p:txBody>
      </p:sp>
      <p:sp>
        <p:nvSpPr>
          <p:cNvPr id="7" name="Image publication">
            <a:extLst xmlns:a="http://schemas.openxmlformats.org/drawingml/2006/main">
              <a:ext uri="{FF2B5EF4-FFF2-40B4-BE49-F238E27FC236}">
                <a16:creationId xmlns:a16="http://schemas.microsoft.com/office/drawing/2014/main" id="{9C36ABDA-DDCE-4515-B938-E68DCEB357EA}"/>
              </a:ext>
            </a:extLst>
          </p:cNvPr>
          <p:cNvSpPr>
            <a:spLocks xmlns:a="http://schemas.openxmlformats.org/drawingml/2006/main" noGrp="1"/>
          </p:cNvSpPr>
          <p:nvPr/>
        </p:nvSpPr>
        <p:spPr>
          <a:xfrm xmlns:a="http://schemas.openxmlformats.org/drawingml/2006/main">
            <a:off x="609600" y="44196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Image publication</a:t>
            </a:r>
          </a:p>
        </p:txBody>
      </p:sp>
      <p:sp>
        <p:nvSpPr>
          <p:cNvPr id="8" name="Exact scanned images use full commit SHA tags">
            <a:extLst xmlns:a="http://schemas.openxmlformats.org/drawingml/2006/main">
              <a:ext uri="{FF2B5EF4-FFF2-40B4-BE49-F238E27FC236}">
                <a16:creationId xmlns:a16="http://schemas.microsoft.com/office/drawing/2014/main" id="{A48D9EEF-F87C-428C-9F42-ED3589031655}"/>
              </a:ext>
            </a:extLst>
          </p:cNvPr>
          <p:cNvSpPr>
            <a:spLocks xmlns:a="http://schemas.openxmlformats.org/drawingml/2006/main" noGrp="1"/>
          </p:cNvSpPr>
          <p:nvPr/>
        </p:nvSpPr>
        <p:spPr>
          <a:xfrm xmlns:a="http://schemas.openxmlformats.org/drawingml/2006/main">
            <a:off x="609600" y="4848225"/>
            <a:ext cx="342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Exact scanned images use full commit SHA tags</a:t>
            </a:r>
          </a:p>
        </p:txBody>
      </p:sp>
      <p:pic>
        <p:nvPicPr>
          <p:cNvPr id="9" name="">
            <a:extLst xmlns:a="http://schemas.openxmlformats.org/drawingml/2006/main">
              <a:ext uri="{FF2B5EF4-FFF2-40B4-BE49-F238E27FC236}">
                <a16:creationId xmlns:a16="http://schemas.microsoft.com/office/drawing/2014/main" id="{2100ECC3-2B92-4FEA-B8FF-76A17CF8CF2E}"/>
              </a:ext>
            </a:extLst>
          </p:cNvPr>
          <p:cNvPicPr>
            <a:picLocks xmlns:a="http://schemas.openxmlformats.org/drawingml/2006/main" noChangeAspect="1"/>
          </p:cNvPicPr>
          <p:nvPr/>
        </p:nvPicPr>
        <p:blipFill>
          <a:blip xmlns:r="http://schemas.openxmlformats.org/officeDocument/2006/relationships" xmlns:a="http://schemas.openxmlformats.org/drawingml/2006/main" r:embed="Ra31b9057f9834c85"/>
          <a:stretch xmlns:a="http://schemas.openxmlformats.org/drawingml/2006/main"/>
        </p:blipFill>
        <p:spPr>
          <a:xfrm xmlns:a="http://schemas.openxmlformats.org/drawingml/2006/main">
            <a:off x="4267200" y="1371600"/>
            <a:ext cx="7315200" cy="4572000"/>
          </a:xfrm>
          <a:prstGeom xmlns:a="http://schemas.openxmlformats.org/drawingml/2006/main" prst="rect">
            <a:avLst/>
          </a:prstGeom>
        </p:spPr>
      </p:pic>
      <p:sp>
        <p:nvSpPr>
          <p:cNvPr id="10" name="CI result: green. Automatic EKS job: skipped.">
            <a:extLst xmlns:a="http://schemas.openxmlformats.org/drawingml/2006/main">
              <a:ext uri="{FF2B5EF4-FFF2-40B4-BE49-F238E27FC236}">
                <a16:creationId xmlns:a16="http://schemas.microsoft.com/office/drawing/2014/main" id="{04D403F6-1DAA-47F2-9CF5-719FC9FEF147}"/>
              </a:ext>
            </a:extLst>
          </p:cNvPr>
          <p:cNvSpPr>
            <a:spLocks xmlns:a="http://schemas.openxmlformats.org/drawingml/2006/main" noGrp="1"/>
          </p:cNvSpPr>
          <p:nvPr/>
        </p:nvSpPr>
        <p:spPr>
          <a:xfrm xmlns:a="http://schemas.openxmlformats.org/drawingml/2006/main">
            <a:off x="4267200" y="6048375"/>
            <a:ext cx="731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46455"/>
                </a:solidFill>
                <a:latin typeface="Arial"/>
                <a:ea typeface="Arial"/>
                <a:cs typeface="Arial"/>
              </a:defRPr>
            </a:defPPr>
            <a:lvl1pPr>
              <a:defRPr sz="1725" b="0">
                <a:solidFill>
                  <a:srgbClr val="546455"/>
                </a:solidFill>
                <a:latin typeface="Arial"/>
                <a:ea typeface="Arial"/>
                <a:cs typeface="Arial"/>
              </a:defRPr>
            </a:lvl1pPr>
            <a:lvl2pPr>
              <a:defRPr sz="1725" b="0">
                <a:solidFill>
                  <a:srgbClr val="546455"/>
                </a:solidFill>
                <a:latin typeface="Arial"/>
                <a:ea typeface="Arial"/>
                <a:cs typeface="Arial"/>
              </a:defRPr>
            </a:lvl2pPr>
            <a:lvl3pPr>
              <a:defRPr sz="1725" b="0">
                <a:solidFill>
                  <a:srgbClr val="546455"/>
                </a:solidFill>
                <a:latin typeface="Arial"/>
                <a:ea typeface="Arial"/>
                <a:cs typeface="Arial"/>
              </a:defRPr>
            </a:lvl3pPr>
            <a:lvl4pPr>
              <a:defRPr sz="1725" b="0">
                <a:solidFill>
                  <a:srgbClr val="546455"/>
                </a:solidFill>
                <a:latin typeface="Arial"/>
                <a:ea typeface="Arial"/>
                <a:cs typeface="Arial"/>
              </a:defRPr>
            </a:lvl4pPr>
            <a:lvl5pPr>
              <a:defRPr sz="1725" b="0">
                <a:solidFill>
                  <a:srgbClr val="546455"/>
                </a:solidFill>
                <a:latin typeface="Arial"/>
                <a:ea typeface="Arial"/>
                <a:cs typeface="Arial"/>
              </a:defRPr>
            </a:lvl5pPr>
            <a:lvl6pPr>
              <a:defRPr sz="1725" b="0">
                <a:solidFill>
                  <a:srgbClr val="546455"/>
                </a:solidFill>
                <a:latin typeface="Arial"/>
                <a:ea typeface="Arial"/>
                <a:cs typeface="Arial"/>
              </a:defRPr>
            </a:lvl6pPr>
            <a:lvl7pPr>
              <a:defRPr sz="1725" b="0">
                <a:solidFill>
                  <a:srgbClr val="546455"/>
                </a:solidFill>
                <a:latin typeface="Arial"/>
                <a:ea typeface="Arial"/>
                <a:cs typeface="Arial"/>
              </a:defRPr>
            </a:lvl7pPr>
            <a:lvl8pPr>
              <a:defRPr sz="1725" b="0">
                <a:solidFill>
                  <a:srgbClr val="546455"/>
                </a:solidFill>
                <a:latin typeface="Arial"/>
                <a:ea typeface="Arial"/>
                <a:cs typeface="Arial"/>
              </a:defRPr>
            </a:lvl8pPr>
            <a:lvl9pPr>
              <a:defRPr sz="1725" b="0">
                <a:solidFill>
                  <a:srgbClr val="546455"/>
                </a:solidFill>
                <a:latin typeface="Arial"/>
                <a:ea typeface="Arial"/>
                <a:cs typeface="Arial"/>
              </a:defRPr>
            </a:lvl9pPr>
          </a:lstStyle>
          <a:p xmlns:a="http://schemas.openxmlformats.org/drawingml/2006/main">
            <a:pPr>
              <a:defRPr sz="1725" b="0">
                <a:solidFill>
                  <a:srgbClr val="546455"/>
                </a:solidFill>
                <a:latin typeface="Arial"/>
                <a:ea typeface="Arial"/>
                <a:cs typeface="Arial"/>
              </a:defRPr>
            </a:pPr>
            <a:r>
              <a:rPr sz="1725" b="0">
                <a:solidFill>
                  <a:srgbClr val="546455"/>
                </a:solidFill>
                <a:latin typeface="Arial"/>
                <a:ea typeface="Arial"/>
                <a:cs typeface="Arial"/>
              </a:rPr>
              <a:t>CI result: green. Automatic EKS job: skipped.</a:t>
            </a:r>
          </a:p>
        </p:txBody>
      </p:sp>
    </p:spTree>
    <p:extLst>
      <p:ext uri="{BB962C8B-B14F-4D97-AF65-F5344CB8AC3E}">
        <p14:creationId xmlns:p14="http://schemas.microsoft.com/office/powerpoint/2010/main" val="260531421"/>
      </p:ext>
    </p:extLst>
  </p:cSld>
</p:sld>
</file>

<file path=ppt/slides/slide6.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7" name="Trivy security gate">
            <a:extLst xmlns:a="http://schemas.openxmlformats.org/drawingml/2006/main">
              <a:ext uri="{FF2B5EF4-FFF2-40B4-BE49-F238E27FC236}">
                <a16:creationId xmlns:a16="http://schemas.microsoft.com/office/drawing/2014/main" id="{FBDEA9EC-2C6B-4202-BC08-01BC5CF78BC7}"/>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Trivy security gate</a:t>
            </a:r>
          </a:p>
        </p:txBody>
      </p:sp>
      <p:sp>
        <p:nvSpPr>
          <p:cNvPr id="2" name="06">
            <a:extLst xmlns:a="http://schemas.openxmlformats.org/drawingml/2006/main">
              <a:ext uri="{FF2B5EF4-FFF2-40B4-BE49-F238E27FC236}">
                <a16:creationId xmlns:a16="http://schemas.microsoft.com/office/drawing/2014/main" id="{BBA429AE-3264-4780-80A5-02023D606C92}"/>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06</a:t>
            </a:r>
          </a:p>
        </p:txBody>
      </p:sp>
      <p:sp>
        <p:nvSpPr>
          <p:cNvPr id="3" name="0 HIGH or CRITICAL findings">
            <a:extLst xmlns:a="http://schemas.openxmlformats.org/drawingml/2006/main">
              <a:ext uri="{FF2B5EF4-FFF2-40B4-BE49-F238E27FC236}">
                <a16:creationId xmlns:a16="http://schemas.microsoft.com/office/drawing/2014/main" id="{9DC65AA7-5892-44A8-B17C-2B8E8C501016}"/>
              </a:ext>
            </a:extLst>
          </p:cNvPr>
          <p:cNvSpPr>
            <a:spLocks xmlns:a="http://schemas.openxmlformats.org/drawingml/2006/main" noGrp="1"/>
          </p:cNvSpPr>
          <p:nvPr/>
        </p:nvSpPr>
        <p:spPr>
          <a:xfrm xmlns:a="http://schemas.openxmlformats.org/drawingml/2006/main">
            <a:off x="609600" y="14287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496D37"/>
                </a:solidFill>
                <a:latin typeface="Arial"/>
                <a:ea typeface="Arial"/>
                <a:cs typeface="Arial"/>
              </a:defRPr>
            </a:defPPr>
            <a:lvl1pPr>
              <a:defRPr sz="3900" b="1">
                <a:solidFill>
                  <a:srgbClr val="496D37"/>
                </a:solidFill>
                <a:latin typeface="Arial"/>
                <a:ea typeface="Arial"/>
                <a:cs typeface="Arial"/>
              </a:defRPr>
            </a:lvl1pPr>
            <a:lvl2pPr>
              <a:defRPr sz="3900" b="1">
                <a:solidFill>
                  <a:srgbClr val="496D37"/>
                </a:solidFill>
                <a:latin typeface="Arial"/>
                <a:ea typeface="Arial"/>
                <a:cs typeface="Arial"/>
              </a:defRPr>
            </a:lvl2pPr>
            <a:lvl3pPr>
              <a:defRPr sz="3900" b="1">
                <a:solidFill>
                  <a:srgbClr val="496D37"/>
                </a:solidFill>
                <a:latin typeface="Arial"/>
                <a:ea typeface="Arial"/>
                <a:cs typeface="Arial"/>
              </a:defRPr>
            </a:lvl3pPr>
            <a:lvl4pPr>
              <a:defRPr sz="3900" b="1">
                <a:solidFill>
                  <a:srgbClr val="496D37"/>
                </a:solidFill>
                <a:latin typeface="Arial"/>
                <a:ea typeface="Arial"/>
                <a:cs typeface="Arial"/>
              </a:defRPr>
            </a:lvl4pPr>
            <a:lvl5pPr>
              <a:defRPr sz="3900" b="1">
                <a:solidFill>
                  <a:srgbClr val="496D37"/>
                </a:solidFill>
                <a:latin typeface="Arial"/>
                <a:ea typeface="Arial"/>
                <a:cs typeface="Arial"/>
              </a:defRPr>
            </a:lvl5pPr>
            <a:lvl6pPr>
              <a:defRPr sz="3900" b="1">
                <a:solidFill>
                  <a:srgbClr val="496D37"/>
                </a:solidFill>
                <a:latin typeface="Arial"/>
                <a:ea typeface="Arial"/>
                <a:cs typeface="Arial"/>
              </a:defRPr>
            </a:lvl6pPr>
            <a:lvl7pPr>
              <a:defRPr sz="3900" b="1">
                <a:solidFill>
                  <a:srgbClr val="496D37"/>
                </a:solidFill>
                <a:latin typeface="Arial"/>
                <a:ea typeface="Arial"/>
                <a:cs typeface="Arial"/>
              </a:defRPr>
            </a:lvl7pPr>
            <a:lvl8pPr>
              <a:defRPr sz="3900" b="1">
                <a:solidFill>
                  <a:srgbClr val="496D37"/>
                </a:solidFill>
                <a:latin typeface="Arial"/>
                <a:ea typeface="Arial"/>
                <a:cs typeface="Arial"/>
              </a:defRPr>
            </a:lvl8pPr>
            <a:lvl9pPr>
              <a:defRPr sz="3900" b="1">
                <a:solidFill>
                  <a:srgbClr val="496D37"/>
                </a:solidFill>
                <a:latin typeface="Arial"/>
                <a:ea typeface="Arial"/>
                <a:cs typeface="Arial"/>
              </a:defRPr>
            </a:lvl9pPr>
          </a:lstStyle>
          <a:p xmlns:a="http://schemas.openxmlformats.org/drawingml/2006/main">
            <a:pPr>
              <a:defRPr sz="3900" b="1">
                <a:solidFill>
                  <a:srgbClr val="496D37"/>
                </a:solidFill>
                <a:latin typeface="Arial"/>
                <a:ea typeface="Arial"/>
                <a:cs typeface="Arial"/>
              </a:defRPr>
            </a:pPr>
            <a:r>
              <a:rPr sz="3900" b="1">
                <a:solidFill>
                  <a:srgbClr val="496D37"/>
                </a:solidFill>
                <a:latin typeface="Arial"/>
                <a:ea typeface="Arial"/>
                <a:cs typeface="Arial"/>
              </a:rPr>
              <a:t>0 HIGH or CRITICAL findings</a:t>
            </a:r>
          </a:p>
        </p:txBody>
      </p:sp>
      <p:sp>
        <p:nvSpPr>
          <p:cNvPr id="4" name="Both remediated images pass the same strict gate">
            <a:extLst xmlns:a="http://schemas.openxmlformats.org/drawingml/2006/main">
              <a:ext uri="{FF2B5EF4-FFF2-40B4-BE49-F238E27FC236}">
                <a16:creationId xmlns:a16="http://schemas.microsoft.com/office/drawing/2014/main" id="{4A92FF65-430B-4C77-873F-0380A1CAB345}"/>
              </a:ext>
            </a:extLst>
          </p:cNvPr>
          <p:cNvSpPr>
            <a:spLocks xmlns:a="http://schemas.openxmlformats.org/drawingml/2006/main" noGrp="1"/>
          </p:cNvSpPr>
          <p:nvPr/>
        </p:nvSpPr>
        <p:spPr>
          <a:xfrm xmlns:a="http://schemas.openxmlformats.org/drawingml/2006/main">
            <a:off x="609600" y="2305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82B"/>
                </a:solidFill>
                <a:latin typeface="Arial"/>
                <a:ea typeface="Arial"/>
                <a:cs typeface="Arial"/>
              </a:defRPr>
            </a:defPPr>
            <a:lvl1pPr>
              <a:defRPr sz="2175" b="0">
                <a:solidFill>
                  <a:srgbClr val="17382B"/>
                </a:solidFill>
                <a:latin typeface="Arial"/>
                <a:ea typeface="Arial"/>
                <a:cs typeface="Arial"/>
              </a:defRPr>
            </a:lvl1pPr>
            <a:lvl2pPr>
              <a:defRPr sz="2175" b="0">
                <a:solidFill>
                  <a:srgbClr val="17382B"/>
                </a:solidFill>
                <a:latin typeface="Arial"/>
                <a:ea typeface="Arial"/>
                <a:cs typeface="Arial"/>
              </a:defRPr>
            </a:lvl2pPr>
            <a:lvl3pPr>
              <a:defRPr sz="2175" b="0">
                <a:solidFill>
                  <a:srgbClr val="17382B"/>
                </a:solidFill>
                <a:latin typeface="Arial"/>
                <a:ea typeface="Arial"/>
                <a:cs typeface="Arial"/>
              </a:defRPr>
            </a:lvl3pPr>
            <a:lvl4pPr>
              <a:defRPr sz="2175" b="0">
                <a:solidFill>
                  <a:srgbClr val="17382B"/>
                </a:solidFill>
                <a:latin typeface="Arial"/>
                <a:ea typeface="Arial"/>
                <a:cs typeface="Arial"/>
              </a:defRPr>
            </a:lvl4pPr>
            <a:lvl5pPr>
              <a:defRPr sz="2175" b="0">
                <a:solidFill>
                  <a:srgbClr val="17382B"/>
                </a:solidFill>
                <a:latin typeface="Arial"/>
                <a:ea typeface="Arial"/>
                <a:cs typeface="Arial"/>
              </a:defRPr>
            </a:lvl5pPr>
            <a:lvl6pPr>
              <a:defRPr sz="2175" b="0">
                <a:solidFill>
                  <a:srgbClr val="17382B"/>
                </a:solidFill>
                <a:latin typeface="Arial"/>
                <a:ea typeface="Arial"/>
                <a:cs typeface="Arial"/>
              </a:defRPr>
            </a:lvl6pPr>
            <a:lvl7pPr>
              <a:defRPr sz="2175" b="0">
                <a:solidFill>
                  <a:srgbClr val="17382B"/>
                </a:solidFill>
                <a:latin typeface="Arial"/>
                <a:ea typeface="Arial"/>
                <a:cs typeface="Arial"/>
              </a:defRPr>
            </a:lvl7pPr>
            <a:lvl8pPr>
              <a:defRPr sz="2175" b="0">
                <a:solidFill>
                  <a:srgbClr val="17382B"/>
                </a:solidFill>
                <a:latin typeface="Arial"/>
                <a:ea typeface="Arial"/>
                <a:cs typeface="Arial"/>
              </a:defRPr>
            </a:lvl8pPr>
            <a:lvl9pPr>
              <a:defRPr sz="2175" b="0">
                <a:solidFill>
                  <a:srgbClr val="17382B"/>
                </a:solidFill>
                <a:latin typeface="Arial"/>
                <a:ea typeface="Arial"/>
                <a:cs typeface="Arial"/>
              </a:defRPr>
            </a:lvl9pPr>
          </a:lstStyle>
          <a:p xmlns:a="http://schemas.openxmlformats.org/drawingml/2006/main">
            <a:pPr>
              <a:defRPr sz="2175" b="0">
                <a:solidFill>
                  <a:srgbClr val="17382B"/>
                </a:solidFill>
                <a:latin typeface="Arial"/>
                <a:ea typeface="Arial"/>
                <a:cs typeface="Arial"/>
              </a:defRPr>
            </a:pPr>
            <a:r>
              <a:rPr sz="2175" b="0">
                <a:solidFill>
                  <a:srgbClr val="17382B"/>
                </a:solidFill>
                <a:latin typeface="Arial"/>
                <a:ea typeface="Arial"/>
                <a:cs typeface="Arial"/>
              </a:rPr>
              <a:t>Both remediated images pass the same strict gate</a:t>
            </a:r>
          </a:p>
        </p:txBody>
      </p:sp>
      <p:pic>
        <p:nvPicPr>
          <p:cNvPr id="5" name="">
            <a:extLst xmlns:a="http://schemas.openxmlformats.org/drawingml/2006/main">
              <a:ext uri="{FF2B5EF4-FFF2-40B4-BE49-F238E27FC236}">
                <a16:creationId xmlns:a16="http://schemas.microsoft.com/office/drawing/2014/main" id="{B707C1D5-7685-4AAA-98F4-D275899BEAA5}"/>
              </a:ext>
            </a:extLst>
          </p:cNvPr>
          <p:cNvPicPr>
            <a:picLocks xmlns:a="http://schemas.openxmlformats.org/drawingml/2006/main" noChangeAspect="1"/>
          </p:cNvPicPr>
          <p:nvPr/>
        </p:nvPicPr>
        <p:blipFill>
          <a:blip xmlns:r="http://schemas.openxmlformats.org/officeDocument/2006/relationships" xmlns:a="http://schemas.openxmlformats.org/drawingml/2006/main" r:embed="R46fbb548e42247eb"/>
          <a:stretch xmlns:a="http://schemas.openxmlformats.org/drawingml/2006/main"/>
        </p:blipFill>
        <p:spPr>
          <a:xfrm xmlns:a="http://schemas.openxmlformats.org/drawingml/2006/main">
            <a:off x="1699846" y="3028950"/>
            <a:ext cx="8792308" cy="2667000"/>
          </a:xfrm>
          <a:prstGeom xmlns:a="http://schemas.openxmlformats.org/drawingml/2006/main" prst="rect">
            <a:avLst/>
          </a:prstGeom>
        </p:spPr>
      </p:pic>
      <p:sp>
        <p:nvSpPr>
          <p:cNvPr id="6" name="HIGH and CRITICAL findings fail CI, including unfixed v">
            <a:extLst xmlns:a="http://schemas.openxmlformats.org/drawingml/2006/main">
              <a:ext uri="{FF2B5EF4-FFF2-40B4-BE49-F238E27FC236}">
                <a16:creationId xmlns:a16="http://schemas.microsoft.com/office/drawing/2014/main" id="{9BFB3130-CB37-45F1-A9C8-168DA7580CA4}"/>
              </a:ext>
            </a:extLst>
          </p:cNvPr>
          <p:cNvSpPr>
            <a:spLocks xmlns:a="http://schemas.openxmlformats.org/drawingml/2006/main" noGrp="1"/>
          </p:cNvSpPr>
          <p:nvPr/>
        </p:nvSpPr>
        <p:spPr>
          <a:xfrm xmlns:a="http://schemas.openxmlformats.org/drawingml/2006/main">
            <a:off x="609600" y="5915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HIGH and CRITICAL findings fail CI, including unfixed vulnerabilities</a:t>
            </a:r>
          </a:p>
        </p:txBody>
      </p:sp>
    </p:spTree>
    <p:extLst>
      <p:ext uri="{BB962C8B-B14F-4D97-AF65-F5344CB8AC3E}">
        <p14:creationId xmlns:p14="http://schemas.microsoft.com/office/powerpoint/2010/main" val="558987391"/>
      </p:ext>
    </p:extLst>
  </p:cSld>
</p:sld>
</file>

<file path=ppt/slides/slide7.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8" name="Terraform and AWS EKS">
            <a:extLst xmlns:a="http://schemas.openxmlformats.org/drawingml/2006/main">
              <a:ext uri="{FF2B5EF4-FFF2-40B4-BE49-F238E27FC236}">
                <a16:creationId xmlns:a16="http://schemas.microsoft.com/office/drawing/2014/main" id="{15F9D4D2-DFEC-4099-A7B5-5A83CF4DAA57}"/>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Terraform and AWS EKS</a:t>
            </a:r>
          </a:p>
        </p:txBody>
      </p:sp>
      <p:sp>
        <p:nvSpPr>
          <p:cNvPr id="2" name="07">
            <a:extLst xmlns:a="http://schemas.openxmlformats.org/drawingml/2006/main">
              <a:ext uri="{FF2B5EF4-FFF2-40B4-BE49-F238E27FC236}">
                <a16:creationId xmlns:a16="http://schemas.microsoft.com/office/drawing/2014/main" id="{8A841D00-AC9C-44A1-8A12-BA7F07D55A7A}"/>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07</a:t>
            </a:r>
          </a:p>
        </p:txBody>
      </p:sp>
      <p:sp>
        <p:nvSpPr>
          <p:cNvPr id="3" name="20">
            <a:extLst xmlns:a="http://schemas.openxmlformats.org/drawingml/2006/main">
              <a:ext uri="{FF2B5EF4-FFF2-40B4-BE49-F238E27FC236}">
                <a16:creationId xmlns:a16="http://schemas.microsoft.com/office/drawing/2014/main" id="{D2CE4FEB-E85F-4696-8105-D011934D267B}"/>
              </a:ext>
            </a:extLst>
          </p:cNvPr>
          <p:cNvSpPr>
            <a:spLocks xmlns:a="http://schemas.openxmlformats.org/drawingml/2006/main" noGrp="1"/>
          </p:cNvSpPr>
          <p:nvPr/>
        </p:nvSpPr>
        <p:spPr>
          <a:xfrm xmlns:a="http://schemas.openxmlformats.org/drawingml/2006/main">
            <a:off x="609600" y="149542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496D37"/>
                </a:solidFill>
                <a:latin typeface="Arial"/>
                <a:ea typeface="Arial"/>
                <a:cs typeface="Arial"/>
              </a:defRPr>
            </a:defPPr>
            <a:lvl1pPr>
              <a:defRPr sz="7050" b="1">
                <a:solidFill>
                  <a:srgbClr val="496D37"/>
                </a:solidFill>
                <a:latin typeface="Arial"/>
                <a:ea typeface="Arial"/>
                <a:cs typeface="Arial"/>
              </a:defRPr>
            </a:lvl1pPr>
            <a:lvl2pPr>
              <a:defRPr sz="7050" b="1">
                <a:solidFill>
                  <a:srgbClr val="496D37"/>
                </a:solidFill>
                <a:latin typeface="Arial"/>
                <a:ea typeface="Arial"/>
                <a:cs typeface="Arial"/>
              </a:defRPr>
            </a:lvl2pPr>
            <a:lvl3pPr>
              <a:defRPr sz="7050" b="1">
                <a:solidFill>
                  <a:srgbClr val="496D37"/>
                </a:solidFill>
                <a:latin typeface="Arial"/>
                <a:ea typeface="Arial"/>
                <a:cs typeface="Arial"/>
              </a:defRPr>
            </a:lvl3pPr>
            <a:lvl4pPr>
              <a:defRPr sz="7050" b="1">
                <a:solidFill>
                  <a:srgbClr val="496D37"/>
                </a:solidFill>
                <a:latin typeface="Arial"/>
                <a:ea typeface="Arial"/>
                <a:cs typeface="Arial"/>
              </a:defRPr>
            </a:lvl4pPr>
            <a:lvl5pPr>
              <a:defRPr sz="7050" b="1">
                <a:solidFill>
                  <a:srgbClr val="496D37"/>
                </a:solidFill>
                <a:latin typeface="Arial"/>
                <a:ea typeface="Arial"/>
                <a:cs typeface="Arial"/>
              </a:defRPr>
            </a:lvl5pPr>
            <a:lvl6pPr>
              <a:defRPr sz="7050" b="1">
                <a:solidFill>
                  <a:srgbClr val="496D37"/>
                </a:solidFill>
                <a:latin typeface="Arial"/>
                <a:ea typeface="Arial"/>
                <a:cs typeface="Arial"/>
              </a:defRPr>
            </a:lvl6pPr>
            <a:lvl7pPr>
              <a:defRPr sz="7050" b="1">
                <a:solidFill>
                  <a:srgbClr val="496D37"/>
                </a:solidFill>
                <a:latin typeface="Arial"/>
                <a:ea typeface="Arial"/>
                <a:cs typeface="Arial"/>
              </a:defRPr>
            </a:lvl7pPr>
            <a:lvl8pPr>
              <a:defRPr sz="7050" b="1">
                <a:solidFill>
                  <a:srgbClr val="496D37"/>
                </a:solidFill>
                <a:latin typeface="Arial"/>
                <a:ea typeface="Arial"/>
                <a:cs typeface="Arial"/>
              </a:defRPr>
            </a:lvl8pPr>
            <a:lvl9pPr>
              <a:defRPr sz="7050" b="1">
                <a:solidFill>
                  <a:srgbClr val="496D37"/>
                </a:solidFill>
                <a:latin typeface="Arial"/>
                <a:ea typeface="Arial"/>
                <a:cs typeface="Arial"/>
              </a:defRPr>
            </a:lvl9pPr>
          </a:lstStyle>
          <a:p xmlns:a="http://schemas.openxmlformats.org/drawingml/2006/main">
            <a:pPr>
              <a:defRPr sz="7050" b="1">
                <a:solidFill>
                  <a:srgbClr val="496D37"/>
                </a:solidFill>
                <a:latin typeface="Arial"/>
                <a:ea typeface="Arial"/>
                <a:cs typeface="Arial"/>
              </a:defRPr>
            </a:pPr>
            <a:r>
              <a:rPr sz="7050" b="1">
                <a:solidFill>
                  <a:srgbClr val="496D37"/>
                </a:solidFill>
                <a:latin typeface="Arial"/>
                <a:ea typeface="Arial"/>
                <a:cs typeface="Arial"/>
              </a:rPr>
              <a:t>20</a:t>
            </a:r>
          </a:p>
        </p:txBody>
      </p:sp>
      <p:sp>
        <p:nvSpPr>
          <p:cNvPr id="4" name="resources provisioned">
            <a:extLst xmlns:a="http://schemas.openxmlformats.org/drawingml/2006/main">
              <a:ext uri="{FF2B5EF4-FFF2-40B4-BE49-F238E27FC236}">
                <a16:creationId xmlns:a16="http://schemas.microsoft.com/office/drawing/2014/main" id="{F7A245EE-B5B1-4717-BAA0-74983FFCA66F}"/>
              </a:ext>
            </a:extLst>
          </p:cNvPr>
          <p:cNvSpPr>
            <a:spLocks xmlns:a="http://schemas.openxmlformats.org/drawingml/2006/main" noGrp="1"/>
          </p:cNvSpPr>
          <p:nvPr/>
        </p:nvSpPr>
        <p:spPr>
          <a:xfrm xmlns:a="http://schemas.openxmlformats.org/drawingml/2006/main">
            <a:off x="609600" y="272415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7382B"/>
                </a:solidFill>
                <a:latin typeface="Arial"/>
                <a:ea typeface="Arial"/>
                <a:cs typeface="Arial"/>
              </a:defRPr>
            </a:defPPr>
            <a:lvl1pPr>
              <a:defRPr sz="2400" b="0">
                <a:solidFill>
                  <a:srgbClr val="17382B"/>
                </a:solidFill>
                <a:latin typeface="Arial"/>
                <a:ea typeface="Arial"/>
                <a:cs typeface="Arial"/>
              </a:defRPr>
            </a:lvl1pPr>
            <a:lvl2pPr>
              <a:defRPr sz="2400" b="0">
                <a:solidFill>
                  <a:srgbClr val="17382B"/>
                </a:solidFill>
                <a:latin typeface="Arial"/>
                <a:ea typeface="Arial"/>
                <a:cs typeface="Arial"/>
              </a:defRPr>
            </a:lvl2pPr>
            <a:lvl3pPr>
              <a:defRPr sz="2400" b="0">
                <a:solidFill>
                  <a:srgbClr val="17382B"/>
                </a:solidFill>
                <a:latin typeface="Arial"/>
                <a:ea typeface="Arial"/>
                <a:cs typeface="Arial"/>
              </a:defRPr>
            </a:lvl3pPr>
            <a:lvl4pPr>
              <a:defRPr sz="2400" b="0">
                <a:solidFill>
                  <a:srgbClr val="17382B"/>
                </a:solidFill>
                <a:latin typeface="Arial"/>
                <a:ea typeface="Arial"/>
                <a:cs typeface="Arial"/>
              </a:defRPr>
            </a:lvl4pPr>
            <a:lvl5pPr>
              <a:defRPr sz="2400" b="0">
                <a:solidFill>
                  <a:srgbClr val="17382B"/>
                </a:solidFill>
                <a:latin typeface="Arial"/>
                <a:ea typeface="Arial"/>
                <a:cs typeface="Arial"/>
              </a:defRPr>
            </a:lvl5pPr>
            <a:lvl6pPr>
              <a:defRPr sz="2400" b="0">
                <a:solidFill>
                  <a:srgbClr val="17382B"/>
                </a:solidFill>
                <a:latin typeface="Arial"/>
                <a:ea typeface="Arial"/>
                <a:cs typeface="Arial"/>
              </a:defRPr>
            </a:lvl6pPr>
            <a:lvl7pPr>
              <a:defRPr sz="2400" b="0">
                <a:solidFill>
                  <a:srgbClr val="17382B"/>
                </a:solidFill>
                <a:latin typeface="Arial"/>
                <a:ea typeface="Arial"/>
                <a:cs typeface="Arial"/>
              </a:defRPr>
            </a:lvl7pPr>
            <a:lvl8pPr>
              <a:defRPr sz="2400" b="0">
                <a:solidFill>
                  <a:srgbClr val="17382B"/>
                </a:solidFill>
                <a:latin typeface="Arial"/>
                <a:ea typeface="Arial"/>
                <a:cs typeface="Arial"/>
              </a:defRPr>
            </a:lvl8pPr>
            <a:lvl9pPr>
              <a:defRPr sz="2400" b="0">
                <a:solidFill>
                  <a:srgbClr val="17382B"/>
                </a:solidFill>
                <a:latin typeface="Arial"/>
                <a:ea typeface="Arial"/>
                <a:cs typeface="Arial"/>
              </a:defRPr>
            </a:lvl9pPr>
          </a:lstStyle>
          <a:p xmlns:a="http://schemas.openxmlformats.org/drawingml/2006/main">
            <a:pPr>
              <a:defRPr sz="2400" b="0">
                <a:solidFill>
                  <a:srgbClr val="17382B"/>
                </a:solidFill>
                <a:latin typeface="Arial"/>
                <a:ea typeface="Arial"/>
                <a:cs typeface="Arial"/>
              </a:defRPr>
            </a:pPr>
            <a:r>
              <a:rPr sz="2400" b="0">
                <a:solidFill>
                  <a:srgbClr val="17382B"/>
                </a:solidFill>
                <a:latin typeface="Arial"/>
                <a:ea typeface="Arial"/>
                <a:cs typeface="Arial"/>
              </a:rPr>
              <a:t>resources provisioned</a:t>
            </a:r>
          </a:p>
        </p:txBody>
      </p:sp>
      <p:sp>
        <p:nvSpPr>
          <p:cNvPr id="5" name="Mumbai: ap-south-1&#10;&#10;VPC and two public subnets&#10;&#10;EKS wit">
            <a:extLst xmlns:a="http://schemas.openxmlformats.org/drawingml/2006/main">
              <a:ext uri="{FF2B5EF4-FFF2-40B4-BE49-F238E27FC236}">
                <a16:creationId xmlns:a16="http://schemas.microsoft.com/office/drawing/2014/main" id="{A0D45D4A-0531-48D9-882F-720FBCD6A729}"/>
              </a:ext>
            </a:extLst>
          </p:cNvPr>
          <p:cNvSpPr>
            <a:spLocks xmlns:a="http://schemas.openxmlformats.org/drawingml/2006/main" noGrp="1"/>
          </p:cNvSpPr>
          <p:nvPr/>
        </p:nvSpPr>
        <p:spPr>
          <a:xfrm xmlns:a="http://schemas.openxmlformats.org/drawingml/2006/main">
            <a:off x="609600" y="37242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46455"/>
                </a:solidFill>
                <a:latin typeface="Arial"/>
                <a:ea typeface="Arial"/>
                <a:cs typeface="Arial"/>
              </a:defRPr>
            </a:defPPr>
            <a:lvl1pPr>
              <a:defRPr sz="2025" b="0">
                <a:solidFill>
                  <a:srgbClr val="546455"/>
                </a:solidFill>
                <a:latin typeface="Arial"/>
                <a:ea typeface="Arial"/>
                <a:cs typeface="Arial"/>
              </a:defRPr>
            </a:lvl1pPr>
            <a:lvl2pPr>
              <a:defRPr sz="2025" b="0">
                <a:solidFill>
                  <a:srgbClr val="546455"/>
                </a:solidFill>
                <a:latin typeface="Arial"/>
                <a:ea typeface="Arial"/>
                <a:cs typeface="Arial"/>
              </a:defRPr>
            </a:lvl2pPr>
            <a:lvl3pPr>
              <a:defRPr sz="2025" b="0">
                <a:solidFill>
                  <a:srgbClr val="546455"/>
                </a:solidFill>
                <a:latin typeface="Arial"/>
                <a:ea typeface="Arial"/>
                <a:cs typeface="Arial"/>
              </a:defRPr>
            </a:lvl3pPr>
            <a:lvl4pPr>
              <a:defRPr sz="2025" b="0">
                <a:solidFill>
                  <a:srgbClr val="546455"/>
                </a:solidFill>
                <a:latin typeface="Arial"/>
                <a:ea typeface="Arial"/>
                <a:cs typeface="Arial"/>
              </a:defRPr>
            </a:lvl4pPr>
            <a:lvl5pPr>
              <a:defRPr sz="2025" b="0">
                <a:solidFill>
                  <a:srgbClr val="546455"/>
                </a:solidFill>
                <a:latin typeface="Arial"/>
                <a:ea typeface="Arial"/>
                <a:cs typeface="Arial"/>
              </a:defRPr>
            </a:lvl5pPr>
            <a:lvl6pPr>
              <a:defRPr sz="2025" b="0">
                <a:solidFill>
                  <a:srgbClr val="546455"/>
                </a:solidFill>
                <a:latin typeface="Arial"/>
                <a:ea typeface="Arial"/>
                <a:cs typeface="Arial"/>
              </a:defRPr>
            </a:lvl6pPr>
            <a:lvl7pPr>
              <a:defRPr sz="2025" b="0">
                <a:solidFill>
                  <a:srgbClr val="546455"/>
                </a:solidFill>
                <a:latin typeface="Arial"/>
                <a:ea typeface="Arial"/>
                <a:cs typeface="Arial"/>
              </a:defRPr>
            </a:lvl7pPr>
            <a:lvl8pPr>
              <a:defRPr sz="2025" b="0">
                <a:solidFill>
                  <a:srgbClr val="546455"/>
                </a:solidFill>
                <a:latin typeface="Arial"/>
                <a:ea typeface="Arial"/>
                <a:cs typeface="Arial"/>
              </a:defRPr>
            </a:lvl8pPr>
            <a:lvl9pPr>
              <a:defRPr sz="2025" b="0">
                <a:solidFill>
                  <a:srgbClr val="546455"/>
                </a:solidFill>
                <a:latin typeface="Arial"/>
                <a:ea typeface="Arial"/>
                <a:cs typeface="Arial"/>
              </a:defRPr>
            </a:lvl9pPr>
          </a:lstStyle>
          <a:p xmlns:a="http://schemas.openxmlformats.org/drawingml/2006/main">
            <a:pPr>
              <a:defRPr sz="2025" b="0">
                <a:solidFill>
                  <a:srgbClr val="546455"/>
                </a:solidFill>
                <a:latin typeface="Arial"/>
                <a:ea typeface="Arial"/>
                <a:cs typeface="Arial"/>
              </a:defRPr>
            </a:pPr>
            <a:r>
              <a:rPr sz="2025" b="0">
                <a:solidFill>
                  <a:srgbClr val="546455"/>
                </a:solidFill>
                <a:latin typeface="Arial"/>
                <a:ea typeface="Arial"/>
                <a:cs typeface="Arial"/>
              </a:rPr>
              <a:t>Mumbai: ap-south-1</a:t>
            </a:r>
          </a:p>
          <a:p xmlns:a="http://schemas.openxmlformats.org/drawingml/2006/main">
            <a:r>
              <a:t/>
            </a:r>
          </a:p>
          <a:p xmlns:a="http://schemas.openxmlformats.org/drawingml/2006/main">
            <a:pPr>
              <a:defRPr sz="2025" b="0">
                <a:solidFill>
                  <a:srgbClr val="546455"/>
                </a:solidFill>
                <a:latin typeface="Arial"/>
                <a:ea typeface="Arial"/>
                <a:cs typeface="Arial"/>
              </a:defRPr>
            </a:pPr>
            <a:r>
              <a:rPr sz="2025" b="0">
                <a:solidFill>
                  <a:srgbClr val="546455"/>
                </a:solidFill>
                <a:latin typeface="Arial"/>
                <a:ea typeface="Arial"/>
                <a:cs typeface="Arial"/>
              </a:rPr>
              <a:t>VPC and two public subnets</a:t>
            </a:r>
          </a:p>
          <a:p xmlns:a="http://schemas.openxmlformats.org/drawingml/2006/main">
            <a:r>
              <a:t/>
            </a:r>
          </a:p>
          <a:p xmlns:a="http://schemas.openxmlformats.org/drawingml/2006/main">
            <a:pPr>
              <a:defRPr sz="2025" b="0">
                <a:solidFill>
                  <a:srgbClr val="546455"/>
                </a:solidFill>
                <a:latin typeface="Arial"/>
                <a:ea typeface="Arial"/>
                <a:cs typeface="Arial"/>
              </a:defRPr>
            </a:pPr>
            <a:r>
              <a:rPr sz="2025" b="0">
                <a:solidFill>
                  <a:srgbClr val="546455"/>
                </a:solidFill>
                <a:latin typeface="Arial"/>
                <a:ea typeface="Arial"/>
                <a:cs typeface="Arial"/>
              </a:rPr>
              <a:t>EKS with two Ready workers</a:t>
            </a:r>
          </a:p>
        </p:txBody>
      </p:sp>
      <p:pic>
        <p:nvPicPr>
          <p:cNvPr id="6" name="">
            <a:extLst xmlns:a="http://schemas.openxmlformats.org/drawingml/2006/main">
              <a:ext uri="{FF2B5EF4-FFF2-40B4-BE49-F238E27FC236}">
                <a16:creationId xmlns:a16="http://schemas.microsoft.com/office/drawing/2014/main" id="{B4C1F9E8-0D95-4F9F-915E-20856CB98BA1}"/>
              </a:ext>
            </a:extLst>
          </p:cNvPr>
          <p:cNvPicPr>
            <a:picLocks xmlns:a="http://schemas.openxmlformats.org/drawingml/2006/main" noChangeAspect="1"/>
          </p:cNvPicPr>
          <p:nvPr/>
        </p:nvPicPr>
        <p:blipFill>
          <a:blip xmlns:r="http://schemas.openxmlformats.org/officeDocument/2006/relationships" xmlns:a="http://schemas.openxmlformats.org/drawingml/2006/main" r:embed="R7a174a902b274e2b"/>
          <a:stretch xmlns:a="http://schemas.openxmlformats.org/drawingml/2006/main"/>
        </p:blipFill>
        <p:spPr>
          <a:xfrm xmlns:a="http://schemas.openxmlformats.org/drawingml/2006/main">
            <a:off x="4391891" y="1371600"/>
            <a:ext cx="7065818" cy="4857750"/>
          </a:xfrm>
          <a:prstGeom xmlns:a="http://schemas.openxmlformats.org/drawingml/2006/main" prst="rect">
            <a:avLst/>
          </a:prstGeom>
        </p:spPr>
      </p:pic>
      <p:sp>
        <p:nvSpPr>
          <p:cNvPr id="7" name="Actual AWS capture before Terraform destroy">
            <a:extLst xmlns:a="http://schemas.openxmlformats.org/drawingml/2006/main">
              <a:ext uri="{FF2B5EF4-FFF2-40B4-BE49-F238E27FC236}">
                <a16:creationId xmlns:a16="http://schemas.microsoft.com/office/drawing/2014/main" id="{02CDDDB4-B125-477D-A70B-B90587865FA9}"/>
              </a:ext>
            </a:extLst>
          </p:cNvPr>
          <p:cNvSpPr>
            <a:spLocks xmlns:a="http://schemas.openxmlformats.org/drawingml/2006/main" noGrp="1"/>
          </p:cNvSpPr>
          <p:nvPr/>
        </p:nvSpPr>
        <p:spPr>
          <a:xfrm xmlns:a="http://schemas.openxmlformats.org/drawingml/2006/main">
            <a:off x="4267200" y="63341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Actual AWS capture before Terraform destroy</a:t>
            </a:r>
          </a:p>
        </p:txBody>
      </p:sp>
    </p:spTree>
    <p:extLst>
      <p:ext uri="{BB962C8B-B14F-4D97-AF65-F5344CB8AC3E}">
        <p14:creationId xmlns:p14="http://schemas.microsoft.com/office/powerpoint/2010/main" val="1704030613"/>
      </p:ext>
    </p:extLst>
  </p:cSld>
</p:sld>
</file>

<file path=ppt/slides/slide8.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8" name="Kubernetes and Helm on EKS">
            <a:extLst xmlns:a="http://schemas.openxmlformats.org/drawingml/2006/main">
              <a:ext uri="{FF2B5EF4-FFF2-40B4-BE49-F238E27FC236}">
                <a16:creationId xmlns:a16="http://schemas.microsoft.com/office/drawing/2014/main" id="{1D5BBA57-4945-4B32-9808-000910158D8F}"/>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Kubernetes and Helm on EKS</a:t>
            </a:r>
          </a:p>
        </p:txBody>
      </p:sp>
      <p:sp>
        <p:nvSpPr>
          <p:cNvPr id="2" name="08">
            <a:extLst xmlns:a="http://schemas.openxmlformats.org/drawingml/2006/main">
              <a:ext uri="{FF2B5EF4-FFF2-40B4-BE49-F238E27FC236}">
                <a16:creationId xmlns:a16="http://schemas.microsoft.com/office/drawing/2014/main" id="{559A9329-2A3F-4AF9-9D0C-90110F4BB2A3}"/>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2E982EAA-DBF5-4A8B-A902-6E6E6B890FC6}"/>
              </a:ext>
            </a:extLst>
          </p:cNvPr>
          <p:cNvPicPr>
            <a:picLocks xmlns:a="http://schemas.openxmlformats.org/drawingml/2006/main" noChangeAspect="1"/>
          </p:cNvPicPr>
          <p:nvPr/>
        </p:nvPicPr>
        <p:blipFill>
          <a:blip xmlns:r="http://schemas.openxmlformats.org/officeDocument/2006/relationships" xmlns:a="http://schemas.openxmlformats.org/drawingml/2006/main" r:embed="Rd23d2a6c1f4f40dc"/>
          <a:stretch xmlns:a="http://schemas.openxmlformats.org/drawingml/2006/main"/>
        </p:blipFill>
        <p:spPr>
          <a:xfrm xmlns:a="http://schemas.openxmlformats.org/drawingml/2006/main">
            <a:off x="609600" y="1429893"/>
            <a:ext cx="10972800" cy="3712464"/>
          </a:xfrm>
          <a:prstGeom xmlns:a="http://schemas.openxmlformats.org/drawingml/2006/main" prst="rect">
            <a:avLst/>
          </a:prstGeom>
        </p:spPr>
      </p:pic>
      <p:sp>
        <p:nvSpPr>
          <p:cNvPr id="4" name="2 backend replicas">
            <a:extLst xmlns:a="http://schemas.openxmlformats.org/drawingml/2006/main">
              <a:ext uri="{FF2B5EF4-FFF2-40B4-BE49-F238E27FC236}">
                <a16:creationId xmlns:a16="http://schemas.microsoft.com/office/drawing/2014/main" id="{FBC492C1-8503-430B-84C6-87C5AE47708E}"/>
              </a:ext>
            </a:extLst>
          </p:cNvPr>
          <p:cNvSpPr>
            <a:spLocks xmlns:a="http://schemas.openxmlformats.org/drawingml/2006/main" noGrp="1"/>
          </p:cNvSpPr>
          <p:nvPr/>
        </p:nvSpPr>
        <p:spPr>
          <a:xfrm xmlns:a="http://schemas.openxmlformats.org/drawingml/2006/main">
            <a:off x="609600" y="53816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82B"/>
                </a:solidFill>
                <a:latin typeface="Arial"/>
                <a:ea typeface="Arial"/>
                <a:cs typeface="Arial"/>
              </a:defRPr>
            </a:defPPr>
            <a:lvl1pPr>
              <a:defRPr sz="2250" b="1">
                <a:solidFill>
                  <a:srgbClr val="17382B"/>
                </a:solidFill>
                <a:latin typeface="Arial"/>
                <a:ea typeface="Arial"/>
                <a:cs typeface="Arial"/>
              </a:defRPr>
            </a:lvl1pPr>
            <a:lvl2pPr>
              <a:defRPr sz="2250" b="1">
                <a:solidFill>
                  <a:srgbClr val="17382B"/>
                </a:solidFill>
                <a:latin typeface="Arial"/>
                <a:ea typeface="Arial"/>
                <a:cs typeface="Arial"/>
              </a:defRPr>
            </a:lvl2pPr>
            <a:lvl3pPr>
              <a:defRPr sz="2250" b="1">
                <a:solidFill>
                  <a:srgbClr val="17382B"/>
                </a:solidFill>
                <a:latin typeface="Arial"/>
                <a:ea typeface="Arial"/>
                <a:cs typeface="Arial"/>
              </a:defRPr>
            </a:lvl3pPr>
            <a:lvl4pPr>
              <a:defRPr sz="2250" b="1">
                <a:solidFill>
                  <a:srgbClr val="17382B"/>
                </a:solidFill>
                <a:latin typeface="Arial"/>
                <a:ea typeface="Arial"/>
                <a:cs typeface="Arial"/>
              </a:defRPr>
            </a:lvl4pPr>
            <a:lvl5pPr>
              <a:defRPr sz="2250" b="1">
                <a:solidFill>
                  <a:srgbClr val="17382B"/>
                </a:solidFill>
                <a:latin typeface="Arial"/>
                <a:ea typeface="Arial"/>
                <a:cs typeface="Arial"/>
              </a:defRPr>
            </a:lvl5pPr>
            <a:lvl6pPr>
              <a:defRPr sz="2250" b="1">
                <a:solidFill>
                  <a:srgbClr val="17382B"/>
                </a:solidFill>
                <a:latin typeface="Arial"/>
                <a:ea typeface="Arial"/>
                <a:cs typeface="Arial"/>
              </a:defRPr>
            </a:lvl6pPr>
            <a:lvl7pPr>
              <a:defRPr sz="2250" b="1">
                <a:solidFill>
                  <a:srgbClr val="17382B"/>
                </a:solidFill>
                <a:latin typeface="Arial"/>
                <a:ea typeface="Arial"/>
                <a:cs typeface="Arial"/>
              </a:defRPr>
            </a:lvl7pPr>
            <a:lvl8pPr>
              <a:defRPr sz="2250" b="1">
                <a:solidFill>
                  <a:srgbClr val="17382B"/>
                </a:solidFill>
                <a:latin typeface="Arial"/>
                <a:ea typeface="Arial"/>
                <a:cs typeface="Arial"/>
              </a:defRPr>
            </a:lvl8pPr>
            <a:lvl9pPr>
              <a:defRPr sz="2250" b="1">
                <a:solidFill>
                  <a:srgbClr val="17382B"/>
                </a:solidFill>
                <a:latin typeface="Arial"/>
                <a:ea typeface="Arial"/>
                <a:cs typeface="Arial"/>
              </a:defRPr>
            </a:lvl9pPr>
          </a:lstStyle>
          <a:p xmlns:a="http://schemas.openxmlformats.org/drawingml/2006/main">
            <a:pPr>
              <a:defRPr sz="2250" b="1">
                <a:solidFill>
                  <a:srgbClr val="17382B"/>
                </a:solidFill>
                <a:latin typeface="Arial"/>
                <a:ea typeface="Arial"/>
                <a:cs typeface="Arial"/>
              </a:defRPr>
            </a:pPr>
            <a:r>
              <a:rPr sz="2250" b="1">
                <a:solidFill>
                  <a:srgbClr val="17382B"/>
                </a:solidFill>
                <a:latin typeface="Arial"/>
                <a:ea typeface="Arial"/>
                <a:cs typeface="Arial"/>
              </a:rPr>
              <a:t>2 backend replicas</a:t>
            </a:r>
          </a:p>
        </p:txBody>
      </p:sp>
      <p:sp>
        <p:nvSpPr>
          <p:cNvPr id="5" name="2 frontend replicas">
            <a:extLst xmlns:a="http://schemas.openxmlformats.org/drawingml/2006/main">
              <a:ext uri="{FF2B5EF4-FFF2-40B4-BE49-F238E27FC236}">
                <a16:creationId xmlns:a16="http://schemas.microsoft.com/office/drawing/2014/main" id="{76A3C814-C84F-4063-8C23-1451206AE078}"/>
              </a:ext>
            </a:extLst>
          </p:cNvPr>
          <p:cNvSpPr>
            <a:spLocks xmlns:a="http://schemas.openxmlformats.org/drawingml/2006/main" noGrp="1"/>
          </p:cNvSpPr>
          <p:nvPr/>
        </p:nvSpPr>
        <p:spPr>
          <a:xfrm xmlns:a="http://schemas.openxmlformats.org/drawingml/2006/main">
            <a:off x="4438650" y="53816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82B"/>
                </a:solidFill>
                <a:latin typeface="Arial"/>
                <a:ea typeface="Arial"/>
                <a:cs typeface="Arial"/>
              </a:defRPr>
            </a:defPPr>
            <a:lvl1pPr>
              <a:defRPr sz="2250" b="1">
                <a:solidFill>
                  <a:srgbClr val="17382B"/>
                </a:solidFill>
                <a:latin typeface="Arial"/>
                <a:ea typeface="Arial"/>
                <a:cs typeface="Arial"/>
              </a:defRPr>
            </a:lvl1pPr>
            <a:lvl2pPr>
              <a:defRPr sz="2250" b="1">
                <a:solidFill>
                  <a:srgbClr val="17382B"/>
                </a:solidFill>
                <a:latin typeface="Arial"/>
                <a:ea typeface="Arial"/>
                <a:cs typeface="Arial"/>
              </a:defRPr>
            </a:lvl2pPr>
            <a:lvl3pPr>
              <a:defRPr sz="2250" b="1">
                <a:solidFill>
                  <a:srgbClr val="17382B"/>
                </a:solidFill>
                <a:latin typeface="Arial"/>
                <a:ea typeface="Arial"/>
                <a:cs typeface="Arial"/>
              </a:defRPr>
            </a:lvl3pPr>
            <a:lvl4pPr>
              <a:defRPr sz="2250" b="1">
                <a:solidFill>
                  <a:srgbClr val="17382B"/>
                </a:solidFill>
                <a:latin typeface="Arial"/>
                <a:ea typeface="Arial"/>
                <a:cs typeface="Arial"/>
              </a:defRPr>
            </a:lvl4pPr>
            <a:lvl5pPr>
              <a:defRPr sz="2250" b="1">
                <a:solidFill>
                  <a:srgbClr val="17382B"/>
                </a:solidFill>
                <a:latin typeface="Arial"/>
                <a:ea typeface="Arial"/>
                <a:cs typeface="Arial"/>
              </a:defRPr>
            </a:lvl5pPr>
            <a:lvl6pPr>
              <a:defRPr sz="2250" b="1">
                <a:solidFill>
                  <a:srgbClr val="17382B"/>
                </a:solidFill>
                <a:latin typeface="Arial"/>
                <a:ea typeface="Arial"/>
                <a:cs typeface="Arial"/>
              </a:defRPr>
            </a:lvl6pPr>
            <a:lvl7pPr>
              <a:defRPr sz="2250" b="1">
                <a:solidFill>
                  <a:srgbClr val="17382B"/>
                </a:solidFill>
                <a:latin typeface="Arial"/>
                <a:ea typeface="Arial"/>
                <a:cs typeface="Arial"/>
              </a:defRPr>
            </a:lvl7pPr>
            <a:lvl8pPr>
              <a:defRPr sz="2250" b="1">
                <a:solidFill>
                  <a:srgbClr val="17382B"/>
                </a:solidFill>
                <a:latin typeface="Arial"/>
                <a:ea typeface="Arial"/>
                <a:cs typeface="Arial"/>
              </a:defRPr>
            </a:lvl8pPr>
            <a:lvl9pPr>
              <a:defRPr sz="2250" b="1">
                <a:solidFill>
                  <a:srgbClr val="17382B"/>
                </a:solidFill>
                <a:latin typeface="Arial"/>
                <a:ea typeface="Arial"/>
                <a:cs typeface="Arial"/>
              </a:defRPr>
            </a:lvl9pPr>
          </a:lstStyle>
          <a:p xmlns:a="http://schemas.openxmlformats.org/drawingml/2006/main">
            <a:pPr>
              <a:defRPr sz="2250" b="1">
                <a:solidFill>
                  <a:srgbClr val="17382B"/>
                </a:solidFill>
                <a:latin typeface="Arial"/>
                <a:ea typeface="Arial"/>
                <a:cs typeface="Arial"/>
              </a:defRPr>
            </a:pPr>
            <a:r>
              <a:rPr sz="2250" b="1">
                <a:solidFill>
                  <a:srgbClr val="17382B"/>
                </a:solidFill>
                <a:latin typeface="Arial"/>
                <a:ea typeface="Arial"/>
                <a:cs typeface="Arial"/>
              </a:rPr>
              <a:t>2 frontend replicas</a:t>
            </a:r>
          </a:p>
        </p:txBody>
      </p:sp>
      <p:sp>
        <p:nvSpPr>
          <p:cNvPr id="6" name="PostgreSQL storage">
            <a:extLst xmlns:a="http://schemas.openxmlformats.org/drawingml/2006/main">
              <a:ext uri="{FF2B5EF4-FFF2-40B4-BE49-F238E27FC236}">
                <a16:creationId xmlns:a16="http://schemas.microsoft.com/office/drawing/2014/main" id="{3BF4BE3C-7507-4CAE-A802-893179EBC9F5}"/>
              </a:ext>
            </a:extLst>
          </p:cNvPr>
          <p:cNvSpPr>
            <a:spLocks xmlns:a="http://schemas.openxmlformats.org/drawingml/2006/main" noGrp="1"/>
          </p:cNvSpPr>
          <p:nvPr/>
        </p:nvSpPr>
        <p:spPr>
          <a:xfrm xmlns:a="http://schemas.openxmlformats.org/drawingml/2006/main">
            <a:off x="8267700" y="5381625"/>
            <a:ext cx="331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82B"/>
                </a:solidFill>
                <a:latin typeface="Arial"/>
                <a:ea typeface="Arial"/>
                <a:cs typeface="Arial"/>
              </a:defRPr>
            </a:defPPr>
            <a:lvl1pPr>
              <a:defRPr sz="2250" b="1">
                <a:solidFill>
                  <a:srgbClr val="17382B"/>
                </a:solidFill>
                <a:latin typeface="Arial"/>
                <a:ea typeface="Arial"/>
                <a:cs typeface="Arial"/>
              </a:defRPr>
            </a:lvl1pPr>
            <a:lvl2pPr>
              <a:defRPr sz="2250" b="1">
                <a:solidFill>
                  <a:srgbClr val="17382B"/>
                </a:solidFill>
                <a:latin typeface="Arial"/>
                <a:ea typeface="Arial"/>
                <a:cs typeface="Arial"/>
              </a:defRPr>
            </a:lvl2pPr>
            <a:lvl3pPr>
              <a:defRPr sz="2250" b="1">
                <a:solidFill>
                  <a:srgbClr val="17382B"/>
                </a:solidFill>
                <a:latin typeface="Arial"/>
                <a:ea typeface="Arial"/>
                <a:cs typeface="Arial"/>
              </a:defRPr>
            </a:lvl3pPr>
            <a:lvl4pPr>
              <a:defRPr sz="2250" b="1">
                <a:solidFill>
                  <a:srgbClr val="17382B"/>
                </a:solidFill>
                <a:latin typeface="Arial"/>
                <a:ea typeface="Arial"/>
                <a:cs typeface="Arial"/>
              </a:defRPr>
            </a:lvl4pPr>
            <a:lvl5pPr>
              <a:defRPr sz="2250" b="1">
                <a:solidFill>
                  <a:srgbClr val="17382B"/>
                </a:solidFill>
                <a:latin typeface="Arial"/>
                <a:ea typeface="Arial"/>
                <a:cs typeface="Arial"/>
              </a:defRPr>
            </a:lvl5pPr>
            <a:lvl6pPr>
              <a:defRPr sz="2250" b="1">
                <a:solidFill>
                  <a:srgbClr val="17382B"/>
                </a:solidFill>
                <a:latin typeface="Arial"/>
                <a:ea typeface="Arial"/>
                <a:cs typeface="Arial"/>
              </a:defRPr>
            </a:lvl6pPr>
            <a:lvl7pPr>
              <a:defRPr sz="2250" b="1">
                <a:solidFill>
                  <a:srgbClr val="17382B"/>
                </a:solidFill>
                <a:latin typeface="Arial"/>
                <a:ea typeface="Arial"/>
                <a:cs typeface="Arial"/>
              </a:defRPr>
            </a:lvl7pPr>
            <a:lvl8pPr>
              <a:defRPr sz="2250" b="1">
                <a:solidFill>
                  <a:srgbClr val="17382B"/>
                </a:solidFill>
                <a:latin typeface="Arial"/>
                <a:ea typeface="Arial"/>
                <a:cs typeface="Arial"/>
              </a:defRPr>
            </a:lvl8pPr>
            <a:lvl9pPr>
              <a:defRPr sz="2250" b="1">
                <a:solidFill>
                  <a:srgbClr val="17382B"/>
                </a:solidFill>
                <a:latin typeface="Arial"/>
                <a:ea typeface="Arial"/>
                <a:cs typeface="Arial"/>
              </a:defRPr>
            </a:lvl9pPr>
          </a:lstStyle>
          <a:p xmlns:a="http://schemas.openxmlformats.org/drawingml/2006/main">
            <a:pPr>
              <a:defRPr sz="2250" b="1">
                <a:solidFill>
                  <a:srgbClr val="17382B"/>
                </a:solidFill>
                <a:latin typeface="Arial"/>
                <a:ea typeface="Arial"/>
                <a:cs typeface="Arial"/>
              </a:defRPr>
            </a:pPr>
            <a:r>
              <a:rPr sz="2250" b="1">
                <a:solidFill>
                  <a:srgbClr val="17382B"/>
                </a:solidFill>
                <a:latin typeface="Arial"/>
                <a:ea typeface="Arial"/>
                <a:cs typeface="Arial"/>
              </a:rPr>
              <a:t>PostgreSQL storage</a:t>
            </a:r>
          </a:p>
        </p:txBody>
      </p:sp>
      <p:sp>
        <p:nvSpPr>
          <p:cNvPr id="7" name="ClusterIP Services and Ingress routes for / and /api">
            <a:extLst xmlns:a="http://schemas.openxmlformats.org/drawingml/2006/main">
              <a:ext uri="{FF2B5EF4-FFF2-40B4-BE49-F238E27FC236}">
                <a16:creationId xmlns:a16="http://schemas.microsoft.com/office/drawing/2014/main" id="{BB2B9B21-CF85-45D5-B41C-1843CCB4A56D}"/>
              </a:ext>
            </a:extLst>
          </p:cNvPr>
          <p:cNvSpPr>
            <a:spLocks xmlns:a="http://schemas.openxmlformats.org/drawingml/2006/main" noGrp="1"/>
          </p:cNvSpPr>
          <p:nvPr/>
        </p:nvSpPr>
        <p:spPr>
          <a:xfrm xmlns:a="http://schemas.openxmlformats.org/drawingml/2006/main">
            <a:off x="609600" y="60007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455"/>
                </a:solidFill>
                <a:latin typeface="Arial"/>
                <a:ea typeface="Arial"/>
                <a:cs typeface="Arial"/>
              </a:defRPr>
            </a:defPPr>
            <a:lvl1pPr>
              <a:defRPr sz="1950" b="0">
                <a:solidFill>
                  <a:srgbClr val="546455"/>
                </a:solidFill>
                <a:latin typeface="Arial"/>
                <a:ea typeface="Arial"/>
                <a:cs typeface="Arial"/>
              </a:defRPr>
            </a:lvl1pPr>
            <a:lvl2pPr>
              <a:defRPr sz="1950" b="0">
                <a:solidFill>
                  <a:srgbClr val="546455"/>
                </a:solidFill>
                <a:latin typeface="Arial"/>
                <a:ea typeface="Arial"/>
                <a:cs typeface="Arial"/>
              </a:defRPr>
            </a:lvl2pPr>
            <a:lvl3pPr>
              <a:defRPr sz="1950" b="0">
                <a:solidFill>
                  <a:srgbClr val="546455"/>
                </a:solidFill>
                <a:latin typeface="Arial"/>
                <a:ea typeface="Arial"/>
                <a:cs typeface="Arial"/>
              </a:defRPr>
            </a:lvl3pPr>
            <a:lvl4pPr>
              <a:defRPr sz="1950" b="0">
                <a:solidFill>
                  <a:srgbClr val="546455"/>
                </a:solidFill>
                <a:latin typeface="Arial"/>
                <a:ea typeface="Arial"/>
                <a:cs typeface="Arial"/>
              </a:defRPr>
            </a:lvl4pPr>
            <a:lvl5pPr>
              <a:defRPr sz="1950" b="0">
                <a:solidFill>
                  <a:srgbClr val="546455"/>
                </a:solidFill>
                <a:latin typeface="Arial"/>
                <a:ea typeface="Arial"/>
                <a:cs typeface="Arial"/>
              </a:defRPr>
            </a:lvl5pPr>
            <a:lvl6pPr>
              <a:defRPr sz="1950" b="0">
                <a:solidFill>
                  <a:srgbClr val="546455"/>
                </a:solidFill>
                <a:latin typeface="Arial"/>
                <a:ea typeface="Arial"/>
                <a:cs typeface="Arial"/>
              </a:defRPr>
            </a:lvl6pPr>
            <a:lvl7pPr>
              <a:defRPr sz="1950" b="0">
                <a:solidFill>
                  <a:srgbClr val="546455"/>
                </a:solidFill>
                <a:latin typeface="Arial"/>
                <a:ea typeface="Arial"/>
                <a:cs typeface="Arial"/>
              </a:defRPr>
            </a:lvl7pPr>
            <a:lvl8pPr>
              <a:defRPr sz="1950" b="0">
                <a:solidFill>
                  <a:srgbClr val="546455"/>
                </a:solidFill>
                <a:latin typeface="Arial"/>
                <a:ea typeface="Arial"/>
                <a:cs typeface="Arial"/>
              </a:defRPr>
            </a:lvl8pPr>
            <a:lvl9pPr>
              <a:defRPr sz="1950" b="0">
                <a:solidFill>
                  <a:srgbClr val="546455"/>
                </a:solidFill>
                <a:latin typeface="Arial"/>
                <a:ea typeface="Arial"/>
                <a:cs typeface="Arial"/>
              </a:defRPr>
            </a:lvl9pPr>
          </a:lstStyle>
          <a:p xmlns:a="http://schemas.openxmlformats.org/drawingml/2006/main">
            <a:pPr>
              <a:defRPr sz="1950" b="0">
                <a:solidFill>
                  <a:srgbClr val="546455"/>
                </a:solidFill>
                <a:latin typeface="Arial"/>
                <a:ea typeface="Arial"/>
                <a:cs typeface="Arial"/>
              </a:defRPr>
            </a:pPr>
            <a:r>
              <a:rPr sz="1950" b="0">
                <a:solidFill>
                  <a:srgbClr val="546455"/>
                </a:solidFill>
                <a:latin typeface="Arial"/>
                <a:ea typeface="Arial"/>
                <a:cs typeface="Arial"/>
              </a:rPr>
              <a:t>ClusterIP Services and Ingress routes for / and /api</a:t>
            </a:r>
          </a:p>
        </p:txBody>
      </p:sp>
    </p:spTree>
    <p:extLst>
      <p:ext uri="{BB962C8B-B14F-4D97-AF65-F5344CB8AC3E}">
        <p14:creationId xmlns:p14="http://schemas.microsoft.com/office/powerpoint/2010/main" val="1764959579"/>
      </p:ext>
    </p:extLst>
  </p:cSld>
</p:sld>
</file>

<file path=ppt/slides/slide9.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10" name="Prometheus and Grafana">
            <a:extLst xmlns:a="http://schemas.openxmlformats.org/drawingml/2006/main">
              <a:ext uri="{FF2B5EF4-FFF2-40B4-BE49-F238E27FC236}">
                <a16:creationId xmlns:a16="http://schemas.microsoft.com/office/drawing/2014/main" id="{721E4175-3331-4EA0-8387-D33251D0CD3B}"/>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Prometheus and Grafana</a:t>
            </a:r>
          </a:p>
        </p:txBody>
      </p:sp>
      <p:sp>
        <p:nvSpPr>
          <p:cNvPr id="2" name="09">
            <a:extLst xmlns:a="http://schemas.openxmlformats.org/drawingml/2006/main">
              <a:ext uri="{FF2B5EF4-FFF2-40B4-BE49-F238E27FC236}">
                <a16:creationId xmlns:a16="http://schemas.microsoft.com/office/drawing/2014/main" id="{FF60F4EA-C5C0-4571-B505-B9C404686C70}"/>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09</a:t>
            </a:r>
          </a:p>
        </p:txBody>
      </p:sp>
      <p:sp>
        <p:nvSpPr>
          <p:cNvPr id="3" name="Application metrics">
            <a:extLst xmlns:a="http://schemas.openxmlformats.org/drawingml/2006/main">
              <a:ext uri="{FF2B5EF4-FFF2-40B4-BE49-F238E27FC236}">
                <a16:creationId xmlns:a16="http://schemas.microsoft.com/office/drawing/2014/main" id="{81282B5E-39CE-4AE7-BF4D-C2439C87EA3C}"/>
              </a:ext>
            </a:extLst>
          </p:cNvPr>
          <p:cNvSpPr>
            <a:spLocks xmlns:a="http://schemas.openxmlformats.org/drawingml/2006/main" noGrp="1"/>
          </p:cNvSpPr>
          <p:nvPr/>
        </p:nvSpPr>
        <p:spPr>
          <a:xfrm xmlns:a="http://schemas.openxmlformats.org/drawingml/2006/main">
            <a:off x="609600" y="14763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Application metrics</a:t>
            </a:r>
          </a:p>
        </p:txBody>
      </p:sp>
      <p:sp>
        <p:nvSpPr>
          <p:cNvPr id="4" name="FastAPI exposes request and latency measurements">
            <a:extLst xmlns:a="http://schemas.openxmlformats.org/drawingml/2006/main">
              <a:ext uri="{FF2B5EF4-FFF2-40B4-BE49-F238E27FC236}">
                <a16:creationId xmlns:a16="http://schemas.microsoft.com/office/drawing/2014/main" id="{13599C01-6CEC-4B8D-B023-8CD3B3CC489E}"/>
              </a:ext>
            </a:extLst>
          </p:cNvPr>
          <p:cNvSpPr>
            <a:spLocks xmlns:a="http://schemas.openxmlformats.org/drawingml/2006/main" noGrp="1"/>
          </p:cNvSpPr>
          <p:nvPr/>
        </p:nvSpPr>
        <p:spPr>
          <a:xfrm xmlns:a="http://schemas.openxmlformats.org/drawingml/2006/main">
            <a:off x="609600" y="190500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FastAPI exposes request and latency measurements</a:t>
            </a:r>
          </a:p>
        </p:txBody>
      </p:sp>
      <p:sp>
        <p:nvSpPr>
          <p:cNvPr id="5" name="Prometheus">
            <a:extLst xmlns:a="http://schemas.openxmlformats.org/drawingml/2006/main">
              <a:ext uri="{FF2B5EF4-FFF2-40B4-BE49-F238E27FC236}">
                <a16:creationId xmlns:a16="http://schemas.microsoft.com/office/drawing/2014/main" id="{8D0102A9-7196-4C30-82ED-E65C39C06CC2}"/>
              </a:ext>
            </a:extLst>
          </p:cNvPr>
          <p:cNvSpPr>
            <a:spLocks xmlns:a="http://schemas.openxmlformats.org/drawingml/2006/main" noGrp="1"/>
          </p:cNvSpPr>
          <p:nvPr/>
        </p:nvSpPr>
        <p:spPr>
          <a:xfrm xmlns:a="http://schemas.openxmlformats.org/drawingml/2006/main">
            <a:off x="609600" y="3095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Prometheus</a:t>
            </a:r>
          </a:p>
        </p:txBody>
      </p:sp>
      <p:sp>
        <p:nvSpPr>
          <p:cNvPr id="6" name="Both backend targets report UP">
            <a:extLst xmlns:a="http://schemas.openxmlformats.org/drawingml/2006/main">
              <a:ext uri="{FF2B5EF4-FFF2-40B4-BE49-F238E27FC236}">
                <a16:creationId xmlns:a16="http://schemas.microsoft.com/office/drawing/2014/main" id="{D2200B0E-9239-4281-8EC9-F022AF108170}"/>
              </a:ext>
            </a:extLst>
          </p:cNvPr>
          <p:cNvSpPr>
            <a:spLocks xmlns:a="http://schemas.openxmlformats.org/drawingml/2006/main" noGrp="1"/>
          </p:cNvSpPr>
          <p:nvPr/>
        </p:nvSpPr>
        <p:spPr>
          <a:xfrm xmlns:a="http://schemas.openxmlformats.org/drawingml/2006/main">
            <a:off x="609600" y="35242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Both backend targets report UP</a:t>
            </a:r>
          </a:p>
        </p:txBody>
      </p:sp>
      <p:sp>
        <p:nvSpPr>
          <p:cNvPr id="7" name="Grafana">
            <a:extLst xmlns:a="http://schemas.openxmlformats.org/drawingml/2006/main">
              <a:ext uri="{FF2B5EF4-FFF2-40B4-BE49-F238E27FC236}">
                <a16:creationId xmlns:a16="http://schemas.microsoft.com/office/drawing/2014/main" id="{8560392E-B0BA-44CA-A0C2-15D6F9E3D003}"/>
              </a:ext>
            </a:extLst>
          </p:cNvPr>
          <p:cNvSpPr>
            <a:spLocks xmlns:a="http://schemas.openxmlformats.org/drawingml/2006/main" noGrp="1"/>
          </p:cNvSpPr>
          <p:nvPr/>
        </p:nvSpPr>
        <p:spPr>
          <a:xfrm xmlns:a="http://schemas.openxmlformats.org/drawingml/2006/main">
            <a:off x="609600" y="4714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Grafana</a:t>
            </a:r>
          </a:p>
        </p:txBody>
      </p:sp>
      <p:sp>
        <p:nvSpPr>
          <p:cNvPr id="8" name="Request and latency panels show data">
            <a:extLst xmlns:a="http://schemas.openxmlformats.org/drawingml/2006/main">
              <a:ext uri="{FF2B5EF4-FFF2-40B4-BE49-F238E27FC236}">
                <a16:creationId xmlns:a16="http://schemas.microsoft.com/office/drawing/2014/main" id="{44D30DCA-1FFF-4F11-B2C1-FC12F19EBBD8}"/>
              </a:ext>
            </a:extLst>
          </p:cNvPr>
          <p:cNvSpPr>
            <a:spLocks xmlns:a="http://schemas.openxmlformats.org/drawingml/2006/main" noGrp="1"/>
          </p:cNvSpPr>
          <p:nvPr/>
        </p:nvSpPr>
        <p:spPr>
          <a:xfrm xmlns:a="http://schemas.openxmlformats.org/drawingml/2006/main">
            <a:off x="609600" y="514350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Request and latency panels show data</a:t>
            </a:r>
          </a:p>
        </p:txBody>
      </p:sp>
      <p:pic>
        <p:nvPicPr>
          <p:cNvPr id="9" name="">
            <a:extLst xmlns:a="http://schemas.openxmlformats.org/drawingml/2006/main">
              <a:ext uri="{FF2B5EF4-FFF2-40B4-BE49-F238E27FC236}">
                <a16:creationId xmlns:a16="http://schemas.microsoft.com/office/drawing/2014/main" id="{CD90905F-856D-443B-BEE0-26844932799F}"/>
              </a:ext>
            </a:extLst>
          </p:cNvPr>
          <p:cNvPicPr>
            <a:picLocks xmlns:a="http://schemas.openxmlformats.org/drawingml/2006/main" noChangeAspect="1"/>
          </p:cNvPicPr>
          <p:nvPr/>
        </p:nvPicPr>
        <p:blipFill>
          <a:blip xmlns:r="http://schemas.openxmlformats.org/officeDocument/2006/relationships" xmlns:a="http://schemas.openxmlformats.org/drawingml/2006/main" r:embed="Rb14bb774183c40e7"/>
          <a:stretch xmlns:a="http://schemas.openxmlformats.org/drawingml/2006/main"/>
        </p:blipFill>
        <p:spPr>
          <a:xfrm xmlns:a="http://schemas.openxmlformats.org/drawingml/2006/main">
            <a:off x="4511675" y="1352550"/>
            <a:ext cx="6654800" cy="4991100"/>
          </a:xfrm>
          <a:prstGeom xmlns:a="http://schemas.openxmlformats.org/drawingml/2006/main" prst="rect">
            <a:avLst/>
          </a:prstGeom>
        </p:spPr>
      </p:pic>
    </p:spTree>
    <p:extLst>
      <p:ext uri="{BB962C8B-B14F-4D97-AF65-F5344CB8AC3E}">
        <p14:creationId xmlns:p14="http://schemas.microsoft.com/office/powerpoint/2010/main" val="364258097"/>
      </p:ext>
    </p:extLst>
  </p:cSld>
</p:sld>
</file>

<file path=ppt/slides/slide10.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11" name="Recorded deployment update">
            <a:extLst xmlns:a="http://schemas.openxmlformats.org/drawingml/2006/main">
              <a:ext uri="{FF2B5EF4-FFF2-40B4-BE49-F238E27FC236}">
                <a16:creationId xmlns:a16="http://schemas.microsoft.com/office/drawing/2014/main" id="{BD1D1C7B-0E4F-4E06-8912-2710D7FEBEEF}"/>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Recorded deployment update</a:t>
            </a:r>
          </a:p>
        </p:txBody>
      </p:sp>
      <p:sp>
        <p:nvSpPr>
          <p:cNvPr id="2" name="10">
            <a:extLst xmlns:a="http://schemas.openxmlformats.org/drawingml/2006/main">
              <a:ext uri="{FF2B5EF4-FFF2-40B4-BE49-F238E27FC236}">
                <a16:creationId xmlns:a16="http://schemas.microsoft.com/office/drawing/2014/main" id="{21E17956-CC75-486E-AE04-8B58A0B9EB96}"/>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10</a:t>
            </a:r>
          </a:p>
        </p:txBody>
      </p:sp>
      <p:sp>
        <p:nvSpPr>
          <p:cNvPr id="3" name="Successful pipeline">
            <a:extLst xmlns:a="http://schemas.openxmlformats.org/drawingml/2006/main">
              <a:ext uri="{FF2B5EF4-FFF2-40B4-BE49-F238E27FC236}">
                <a16:creationId xmlns:a16="http://schemas.microsoft.com/office/drawing/2014/main" id="{FAB28EF5-FEC8-4332-B4CE-31A7000E4A80}"/>
              </a:ext>
            </a:extLst>
          </p:cNvPr>
          <p:cNvSpPr>
            <a:spLocks xmlns:a="http://schemas.openxmlformats.org/drawingml/2006/main" noGrp="1"/>
          </p:cNvSpPr>
          <p:nvPr/>
        </p:nvSpPr>
        <p:spPr>
          <a:xfrm xmlns:a="http://schemas.openxmlformats.org/drawingml/2006/main">
            <a:off x="609600" y="14763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Successful pipeline</a:t>
            </a:r>
          </a:p>
        </p:txBody>
      </p:sp>
      <p:sp>
        <p:nvSpPr>
          <p:cNvPr id="4" name="Run 38947611595 publishes the scanned SHA">
            <a:extLst xmlns:a="http://schemas.openxmlformats.org/drawingml/2006/main">
              <a:ext uri="{FF2B5EF4-FFF2-40B4-BE49-F238E27FC236}">
                <a16:creationId xmlns:a16="http://schemas.microsoft.com/office/drawing/2014/main" id="{45E08C23-34CA-4EB0-89D0-BA967881D213}"/>
              </a:ext>
            </a:extLst>
          </p:cNvPr>
          <p:cNvSpPr>
            <a:spLocks xmlns:a="http://schemas.openxmlformats.org/drawingml/2006/main" noGrp="1"/>
          </p:cNvSpPr>
          <p:nvPr/>
        </p:nvSpPr>
        <p:spPr>
          <a:xfrm xmlns:a="http://schemas.openxmlformats.org/drawingml/2006/main">
            <a:off x="609600" y="190500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Run 38947611595 publishes the scanned SHA</a:t>
            </a:r>
          </a:p>
        </p:txBody>
      </p:sp>
      <p:sp>
        <p:nvSpPr>
          <p:cNvPr id="5" name="Local Helm upgrade">
            <a:extLst xmlns:a="http://schemas.openxmlformats.org/drawingml/2006/main">
              <a:ext uri="{FF2B5EF4-FFF2-40B4-BE49-F238E27FC236}">
                <a16:creationId xmlns:a16="http://schemas.microsoft.com/office/drawing/2014/main" id="{60696C4A-F69C-46DC-A5FC-40EBA7FF1632}"/>
              </a:ext>
            </a:extLst>
          </p:cNvPr>
          <p:cNvSpPr>
            <a:spLocks xmlns:a="http://schemas.openxmlformats.org/drawingml/2006/main" noGrp="1"/>
          </p:cNvSpPr>
          <p:nvPr/>
        </p:nvSpPr>
        <p:spPr>
          <a:xfrm xmlns:a="http://schemas.openxmlformats.org/drawingml/2006/main">
            <a:off x="609600" y="30670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Local Helm upgrade</a:t>
            </a:r>
          </a:p>
        </p:txBody>
      </p:sp>
      <p:sp>
        <p:nvSpPr>
          <p:cNvPr id="6" name="EKS health reports commit 7f36caf">
            <a:extLst xmlns:a="http://schemas.openxmlformats.org/drawingml/2006/main">
              <a:ext uri="{FF2B5EF4-FFF2-40B4-BE49-F238E27FC236}">
                <a16:creationId xmlns:a16="http://schemas.microsoft.com/office/drawing/2014/main" id="{7085F9A8-70C8-4B52-A615-3CA7DBE41A59}"/>
              </a:ext>
            </a:extLst>
          </p:cNvPr>
          <p:cNvSpPr>
            <a:spLocks xmlns:a="http://schemas.openxmlformats.org/drawingml/2006/main" noGrp="1"/>
          </p:cNvSpPr>
          <p:nvPr/>
        </p:nvSpPr>
        <p:spPr>
          <a:xfrm xmlns:a="http://schemas.openxmlformats.org/drawingml/2006/main">
            <a:off x="609600" y="3495675"/>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EKS health reports commit 7f36caf</a:t>
            </a:r>
          </a:p>
        </p:txBody>
      </p:sp>
      <p:sp>
        <p:nvSpPr>
          <p:cNvPr id="7" name="Persistent notebook">
            <a:extLst xmlns:a="http://schemas.openxmlformats.org/drawingml/2006/main">
              <a:ext uri="{FF2B5EF4-FFF2-40B4-BE49-F238E27FC236}">
                <a16:creationId xmlns:a16="http://schemas.microsoft.com/office/drawing/2014/main" id="{1648FCEC-8A9F-44CF-8C35-3B7D6D336BDA}"/>
              </a:ext>
            </a:extLst>
          </p:cNvPr>
          <p:cNvSpPr>
            <a:spLocks xmlns:a="http://schemas.openxmlformats.org/drawingml/2006/main" noGrp="1"/>
          </p:cNvSpPr>
          <p:nvPr/>
        </p:nvSpPr>
        <p:spPr>
          <a:xfrm xmlns:a="http://schemas.openxmlformats.org/drawingml/2006/main">
            <a:off x="609600" y="46577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82B"/>
                </a:solidFill>
                <a:latin typeface="Arial"/>
                <a:ea typeface="Arial"/>
                <a:cs typeface="Arial"/>
              </a:defRPr>
            </a:defPPr>
            <a:lvl1pPr>
              <a:defRPr sz="2100" b="1">
                <a:solidFill>
                  <a:srgbClr val="17382B"/>
                </a:solidFill>
                <a:latin typeface="Arial"/>
                <a:ea typeface="Arial"/>
                <a:cs typeface="Arial"/>
              </a:defRPr>
            </a:lvl1pPr>
            <a:lvl2pPr>
              <a:defRPr sz="2100" b="1">
                <a:solidFill>
                  <a:srgbClr val="17382B"/>
                </a:solidFill>
                <a:latin typeface="Arial"/>
                <a:ea typeface="Arial"/>
                <a:cs typeface="Arial"/>
              </a:defRPr>
            </a:lvl2pPr>
            <a:lvl3pPr>
              <a:defRPr sz="2100" b="1">
                <a:solidFill>
                  <a:srgbClr val="17382B"/>
                </a:solidFill>
                <a:latin typeface="Arial"/>
                <a:ea typeface="Arial"/>
                <a:cs typeface="Arial"/>
              </a:defRPr>
            </a:lvl3pPr>
            <a:lvl4pPr>
              <a:defRPr sz="2100" b="1">
                <a:solidFill>
                  <a:srgbClr val="17382B"/>
                </a:solidFill>
                <a:latin typeface="Arial"/>
                <a:ea typeface="Arial"/>
                <a:cs typeface="Arial"/>
              </a:defRPr>
            </a:lvl4pPr>
            <a:lvl5pPr>
              <a:defRPr sz="2100" b="1">
                <a:solidFill>
                  <a:srgbClr val="17382B"/>
                </a:solidFill>
                <a:latin typeface="Arial"/>
                <a:ea typeface="Arial"/>
                <a:cs typeface="Arial"/>
              </a:defRPr>
            </a:lvl5pPr>
            <a:lvl6pPr>
              <a:defRPr sz="2100" b="1">
                <a:solidFill>
                  <a:srgbClr val="17382B"/>
                </a:solidFill>
                <a:latin typeface="Arial"/>
                <a:ea typeface="Arial"/>
                <a:cs typeface="Arial"/>
              </a:defRPr>
            </a:lvl6pPr>
            <a:lvl7pPr>
              <a:defRPr sz="2100" b="1">
                <a:solidFill>
                  <a:srgbClr val="17382B"/>
                </a:solidFill>
                <a:latin typeface="Arial"/>
                <a:ea typeface="Arial"/>
                <a:cs typeface="Arial"/>
              </a:defRPr>
            </a:lvl7pPr>
            <a:lvl8pPr>
              <a:defRPr sz="2100" b="1">
                <a:solidFill>
                  <a:srgbClr val="17382B"/>
                </a:solidFill>
                <a:latin typeface="Arial"/>
                <a:ea typeface="Arial"/>
                <a:cs typeface="Arial"/>
              </a:defRPr>
            </a:lvl8pPr>
            <a:lvl9pPr>
              <a:defRPr sz="2100" b="1">
                <a:solidFill>
                  <a:srgbClr val="17382B"/>
                </a:solidFill>
                <a:latin typeface="Arial"/>
                <a:ea typeface="Arial"/>
                <a:cs typeface="Arial"/>
              </a:defRPr>
            </a:lvl9pPr>
          </a:lstStyle>
          <a:p xmlns:a="http://schemas.openxmlformats.org/drawingml/2006/main">
            <a:pPr>
              <a:defRPr sz="2100" b="1">
                <a:solidFill>
                  <a:srgbClr val="17382B"/>
                </a:solidFill>
                <a:latin typeface="Arial"/>
                <a:ea typeface="Arial"/>
                <a:cs typeface="Arial"/>
              </a:defRPr>
            </a:pPr>
            <a:r>
              <a:rPr sz="2100" b="1">
                <a:solidFill>
                  <a:srgbClr val="17382B"/>
                </a:solidFill>
                <a:latin typeface="Arial"/>
                <a:ea typeface="Arial"/>
                <a:cs typeface="Arial"/>
              </a:rPr>
              <a:t>Persistent notebook</a:t>
            </a:r>
          </a:p>
        </p:txBody>
      </p:sp>
      <p:sp>
        <p:nvSpPr>
          <p:cNvPr id="8" name="Calculations survive pod replacement">
            <a:extLst xmlns:a="http://schemas.openxmlformats.org/drawingml/2006/main">
              <a:ext uri="{FF2B5EF4-FFF2-40B4-BE49-F238E27FC236}">
                <a16:creationId xmlns:a16="http://schemas.microsoft.com/office/drawing/2014/main" id="{A31F78C0-A050-4CC1-9047-76BA57E2811E}"/>
              </a:ext>
            </a:extLst>
          </p:cNvPr>
          <p:cNvSpPr>
            <a:spLocks xmlns:a="http://schemas.openxmlformats.org/drawingml/2006/main" noGrp="1"/>
          </p:cNvSpPr>
          <p:nvPr/>
        </p:nvSpPr>
        <p:spPr>
          <a:xfrm xmlns:a="http://schemas.openxmlformats.org/drawingml/2006/main">
            <a:off x="609600" y="50863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455"/>
                </a:solidFill>
                <a:latin typeface="Arial"/>
                <a:ea typeface="Arial"/>
                <a:cs typeface="Arial"/>
              </a:defRPr>
            </a:defPPr>
            <a:lvl1pPr>
              <a:defRPr sz="1875" b="0">
                <a:solidFill>
                  <a:srgbClr val="546455"/>
                </a:solidFill>
                <a:latin typeface="Arial"/>
                <a:ea typeface="Arial"/>
                <a:cs typeface="Arial"/>
              </a:defRPr>
            </a:lvl1pPr>
            <a:lvl2pPr>
              <a:defRPr sz="1875" b="0">
                <a:solidFill>
                  <a:srgbClr val="546455"/>
                </a:solidFill>
                <a:latin typeface="Arial"/>
                <a:ea typeface="Arial"/>
                <a:cs typeface="Arial"/>
              </a:defRPr>
            </a:lvl2pPr>
            <a:lvl3pPr>
              <a:defRPr sz="1875" b="0">
                <a:solidFill>
                  <a:srgbClr val="546455"/>
                </a:solidFill>
                <a:latin typeface="Arial"/>
                <a:ea typeface="Arial"/>
                <a:cs typeface="Arial"/>
              </a:defRPr>
            </a:lvl3pPr>
            <a:lvl4pPr>
              <a:defRPr sz="1875" b="0">
                <a:solidFill>
                  <a:srgbClr val="546455"/>
                </a:solidFill>
                <a:latin typeface="Arial"/>
                <a:ea typeface="Arial"/>
                <a:cs typeface="Arial"/>
              </a:defRPr>
            </a:lvl4pPr>
            <a:lvl5pPr>
              <a:defRPr sz="1875" b="0">
                <a:solidFill>
                  <a:srgbClr val="546455"/>
                </a:solidFill>
                <a:latin typeface="Arial"/>
                <a:ea typeface="Arial"/>
                <a:cs typeface="Arial"/>
              </a:defRPr>
            </a:lvl5pPr>
            <a:lvl6pPr>
              <a:defRPr sz="1875" b="0">
                <a:solidFill>
                  <a:srgbClr val="546455"/>
                </a:solidFill>
                <a:latin typeface="Arial"/>
                <a:ea typeface="Arial"/>
                <a:cs typeface="Arial"/>
              </a:defRPr>
            </a:lvl6pPr>
            <a:lvl7pPr>
              <a:defRPr sz="1875" b="0">
                <a:solidFill>
                  <a:srgbClr val="546455"/>
                </a:solidFill>
                <a:latin typeface="Arial"/>
                <a:ea typeface="Arial"/>
                <a:cs typeface="Arial"/>
              </a:defRPr>
            </a:lvl7pPr>
            <a:lvl8pPr>
              <a:defRPr sz="1875" b="0">
                <a:solidFill>
                  <a:srgbClr val="546455"/>
                </a:solidFill>
                <a:latin typeface="Arial"/>
                <a:ea typeface="Arial"/>
                <a:cs typeface="Arial"/>
              </a:defRPr>
            </a:lvl8pPr>
            <a:lvl9pPr>
              <a:defRPr sz="1875" b="0">
                <a:solidFill>
                  <a:srgbClr val="546455"/>
                </a:solidFill>
                <a:latin typeface="Arial"/>
                <a:ea typeface="Arial"/>
                <a:cs typeface="Arial"/>
              </a:defRPr>
            </a:lvl9pPr>
          </a:lstStyle>
          <a:p xmlns:a="http://schemas.openxmlformats.org/drawingml/2006/main">
            <a:pPr>
              <a:defRPr sz="1875" b="0">
                <a:solidFill>
                  <a:srgbClr val="546455"/>
                </a:solidFill>
                <a:latin typeface="Arial"/>
                <a:ea typeface="Arial"/>
                <a:cs typeface="Arial"/>
              </a:defRPr>
            </a:pPr>
            <a:r>
              <a:rPr sz="1875" b="0">
                <a:solidFill>
                  <a:srgbClr val="546455"/>
                </a:solidFill>
                <a:latin typeface="Arial"/>
                <a:ea typeface="Arial"/>
                <a:cs typeface="Arial"/>
              </a:rPr>
              <a:t>Calculations survive pod replacement</a:t>
            </a:r>
          </a:p>
        </p:txBody>
      </p:sp>
      <p:pic>
        <p:nvPicPr>
          <p:cNvPr id="9" name="">
            <a:extLst xmlns:a="http://schemas.openxmlformats.org/drawingml/2006/main">
              <a:ext uri="{FF2B5EF4-FFF2-40B4-BE49-F238E27FC236}">
                <a16:creationId xmlns:a16="http://schemas.microsoft.com/office/drawing/2014/main" id="{74BF5C73-73E4-4312-9C6A-B508A4AFE261}"/>
              </a:ext>
            </a:extLst>
          </p:cNvPr>
          <p:cNvPicPr>
            <a:picLocks xmlns:a="http://schemas.openxmlformats.org/drawingml/2006/main" noChangeAspect="1"/>
          </p:cNvPicPr>
          <p:nvPr/>
        </p:nvPicPr>
        <p:blipFill>
          <a:blip xmlns:r="http://schemas.openxmlformats.org/officeDocument/2006/relationships" xmlns:a="http://schemas.openxmlformats.org/drawingml/2006/main" r:embed="R259339c17e814810"/>
          <a:stretch xmlns:a="http://schemas.openxmlformats.org/drawingml/2006/main"/>
        </p:blipFill>
        <p:spPr>
          <a:xfrm xmlns:a="http://schemas.openxmlformats.org/drawingml/2006/main">
            <a:off x="4864800" y="1314450"/>
            <a:ext cx="6120000" cy="4857750"/>
          </a:xfrm>
          <a:prstGeom xmlns:a="http://schemas.openxmlformats.org/drawingml/2006/main" prst="rect">
            <a:avLst/>
          </a:prstGeom>
        </p:spPr>
      </p:pic>
      <p:sp>
        <p:nvSpPr>
          <p:cNvPr id="10" name="Local Helm delivery after green CI">
            <a:extLst xmlns:a="http://schemas.openxmlformats.org/drawingml/2006/main">
              <a:ext uri="{FF2B5EF4-FFF2-40B4-BE49-F238E27FC236}">
                <a16:creationId xmlns:a16="http://schemas.microsoft.com/office/drawing/2014/main" id="{F8BDBC87-64D9-45EF-8C90-7CAC8E131691}"/>
              </a:ext>
            </a:extLst>
          </p:cNvPr>
          <p:cNvSpPr>
            <a:spLocks xmlns:a="http://schemas.openxmlformats.org/drawingml/2006/main" noGrp="1"/>
          </p:cNvSpPr>
          <p:nvPr/>
        </p:nvSpPr>
        <p:spPr>
          <a:xfrm xmlns:a="http://schemas.openxmlformats.org/drawingml/2006/main">
            <a:off x="4267200"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Local Helm delivery after green CI</a:t>
            </a:r>
          </a:p>
        </p:txBody>
      </p:sp>
    </p:spTree>
    <p:extLst>
      <p:ext uri="{BB962C8B-B14F-4D97-AF65-F5344CB8AC3E}">
        <p14:creationId xmlns:p14="http://schemas.microsoft.com/office/powerpoint/2010/main" val="1598679110"/>
      </p:ext>
    </p:extLst>
  </p:cSld>
</p:sld>
</file>

<file path=ppt/slides/slide11.xml><?xml version="1.0" encoding="utf-8"?>
<p:sld xmlns:p="http://schemas.openxmlformats.org/presentationml/2006/main">
  <p:cSld>
    <p:bg>
      <p:bgPr>
        <a:solidFill xmlns:a="http://schemas.openxmlformats.org/drawingml/2006/main">
          <a:srgbClr val="F5F5ED"/>
        </a:solidFill>
      </p:bgPr>
    </p:bg>
    <p:spTree>
      <p:nvGrpSpPr>
        <p:cNvPr id="1" name=""/>
        <p:cNvGrpSpPr/>
        <p:nvPr/>
      </p:nvGrpSpPr>
      <p:grpSpPr>
        <a:xfrm xmlns:a="http://schemas.openxmlformats.org/drawingml/2006/main"/>
      </p:grpSpPr>
      <p:sp>
        <p:nvSpPr>
          <p:cNvPr id="8" name="Cleanup and submission">
            <a:extLst xmlns:a="http://schemas.openxmlformats.org/drawingml/2006/main">
              <a:ext uri="{FF2B5EF4-FFF2-40B4-BE49-F238E27FC236}">
                <a16:creationId xmlns:a16="http://schemas.microsoft.com/office/drawing/2014/main" id="{FC285490-9B7D-4348-BFEF-98DBFAD9E56D}"/>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B"/>
                </a:solidFill>
                <a:latin typeface="Arial"/>
                <a:ea typeface="Arial"/>
                <a:cs typeface="Arial"/>
              </a:defRPr>
            </a:defPPr>
            <a:lvl1pPr>
              <a:defRPr sz="3300" b="1">
                <a:solidFill>
                  <a:srgbClr val="17382B"/>
                </a:solidFill>
                <a:latin typeface="Arial"/>
                <a:ea typeface="Arial"/>
                <a:cs typeface="Arial"/>
              </a:defRPr>
            </a:lvl1pPr>
            <a:lvl2pPr>
              <a:defRPr sz="3300" b="1">
                <a:solidFill>
                  <a:srgbClr val="17382B"/>
                </a:solidFill>
                <a:latin typeface="Arial"/>
                <a:ea typeface="Arial"/>
                <a:cs typeface="Arial"/>
              </a:defRPr>
            </a:lvl2pPr>
            <a:lvl3pPr>
              <a:defRPr sz="3300" b="1">
                <a:solidFill>
                  <a:srgbClr val="17382B"/>
                </a:solidFill>
                <a:latin typeface="Arial"/>
                <a:ea typeface="Arial"/>
                <a:cs typeface="Arial"/>
              </a:defRPr>
            </a:lvl3pPr>
            <a:lvl4pPr>
              <a:defRPr sz="3300" b="1">
                <a:solidFill>
                  <a:srgbClr val="17382B"/>
                </a:solidFill>
                <a:latin typeface="Arial"/>
                <a:ea typeface="Arial"/>
                <a:cs typeface="Arial"/>
              </a:defRPr>
            </a:lvl4pPr>
            <a:lvl5pPr>
              <a:defRPr sz="3300" b="1">
                <a:solidFill>
                  <a:srgbClr val="17382B"/>
                </a:solidFill>
                <a:latin typeface="Arial"/>
                <a:ea typeface="Arial"/>
                <a:cs typeface="Arial"/>
              </a:defRPr>
            </a:lvl5pPr>
            <a:lvl6pPr>
              <a:defRPr sz="3300" b="1">
                <a:solidFill>
                  <a:srgbClr val="17382B"/>
                </a:solidFill>
                <a:latin typeface="Arial"/>
                <a:ea typeface="Arial"/>
                <a:cs typeface="Arial"/>
              </a:defRPr>
            </a:lvl6pPr>
            <a:lvl7pPr>
              <a:defRPr sz="3300" b="1">
                <a:solidFill>
                  <a:srgbClr val="17382B"/>
                </a:solidFill>
                <a:latin typeface="Arial"/>
                <a:ea typeface="Arial"/>
                <a:cs typeface="Arial"/>
              </a:defRPr>
            </a:lvl7pPr>
            <a:lvl8pPr>
              <a:defRPr sz="3300" b="1">
                <a:solidFill>
                  <a:srgbClr val="17382B"/>
                </a:solidFill>
                <a:latin typeface="Arial"/>
                <a:ea typeface="Arial"/>
                <a:cs typeface="Arial"/>
              </a:defRPr>
            </a:lvl8pPr>
            <a:lvl9pPr>
              <a:defRPr sz="3300" b="1">
                <a:solidFill>
                  <a:srgbClr val="17382B"/>
                </a:solidFill>
                <a:latin typeface="Arial"/>
                <a:ea typeface="Arial"/>
                <a:cs typeface="Arial"/>
              </a:defRPr>
            </a:lvl9pPr>
          </a:lstStyle>
          <a:p xmlns:a="http://schemas.openxmlformats.org/drawingml/2006/main">
            <a:pPr>
              <a:defRPr sz="3300" b="1">
                <a:solidFill>
                  <a:srgbClr val="17382B"/>
                </a:solidFill>
                <a:latin typeface="Arial"/>
                <a:ea typeface="Arial"/>
                <a:cs typeface="Arial"/>
              </a:defRPr>
            </a:pPr>
            <a:r>
              <a:rPr sz="3300" b="1">
                <a:solidFill>
                  <a:srgbClr val="17382B"/>
                </a:solidFill>
                <a:latin typeface="Arial"/>
                <a:ea typeface="Arial"/>
                <a:cs typeface="Arial"/>
              </a:rPr>
              <a:t>Cleanup and submission</a:t>
            </a:r>
          </a:p>
        </p:txBody>
      </p:sp>
      <p:sp>
        <p:nvSpPr>
          <p:cNvPr id="2" name="11">
            <a:extLst xmlns:a="http://schemas.openxmlformats.org/drawingml/2006/main">
              <a:ext uri="{FF2B5EF4-FFF2-40B4-BE49-F238E27FC236}">
                <a16:creationId xmlns:a16="http://schemas.microsoft.com/office/drawing/2014/main" id="{AF5270BE-83AA-4707-8992-6A3C69B53DC0}"/>
              </a:ext>
            </a:extLst>
          </p:cNvPr>
          <p:cNvSpPr>
            <a:spLocks xmlns:a="http://schemas.openxmlformats.org/drawingml/2006/main" noGrp="1"/>
          </p:cNvSpPr>
          <p:nvPr/>
        </p:nvSpPr>
        <p:spPr>
          <a:xfrm xmlns:a="http://schemas.openxmlformats.org/drawingml/2006/main">
            <a:off x="10972800" y="63341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455"/>
                </a:solidFill>
                <a:latin typeface="Arial"/>
                <a:ea typeface="Arial"/>
                <a:cs typeface="Arial"/>
              </a:defRPr>
            </a:defPPr>
            <a:lvl1pPr>
              <a:defRPr sz="1650" b="0">
                <a:solidFill>
                  <a:srgbClr val="546455"/>
                </a:solidFill>
                <a:latin typeface="Arial"/>
                <a:ea typeface="Arial"/>
                <a:cs typeface="Arial"/>
              </a:defRPr>
            </a:lvl1pPr>
            <a:lvl2pPr>
              <a:defRPr sz="1650" b="0">
                <a:solidFill>
                  <a:srgbClr val="546455"/>
                </a:solidFill>
                <a:latin typeface="Arial"/>
                <a:ea typeface="Arial"/>
                <a:cs typeface="Arial"/>
              </a:defRPr>
            </a:lvl2pPr>
            <a:lvl3pPr>
              <a:defRPr sz="1650" b="0">
                <a:solidFill>
                  <a:srgbClr val="546455"/>
                </a:solidFill>
                <a:latin typeface="Arial"/>
                <a:ea typeface="Arial"/>
                <a:cs typeface="Arial"/>
              </a:defRPr>
            </a:lvl3pPr>
            <a:lvl4pPr>
              <a:defRPr sz="1650" b="0">
                <a:solidFill>
                  <a:srgbClr val="546455"/>
                </a:solidFill>
                <a:latin typeface="Arial"/>
                <a:ea typeface="Arial"/>
                <a:cs typeface="Arial"/>
              </a:defRPr>
            </a:lvl4pPr>
            <a:lvl5pPr>
              <a:defRPr sz="1650" b="0">
                <a:solidFill>
                  <a:srgbClr val="546455"/>
                </a:solidFill>
                <a:latin typeface="Arial"/>
                <a:ea typeface="Arial"/>
                <a:cs typeface="Arial"/>
              </a:defRPr>
            </a:lvl5pPr>
            <a:lvl6pPr>
              <a:defRPr sz="1650" b="0">
                <a:solidFill>
                  <a:srgbClr val="546455"/>
                </a:solidFill>
                <a:latin typeface="Arial"/>
                <a:ea typeface="Arial"/>
                <a:cs typeface="Arial"/>
              </a:defRPr>
            </a:lvl6pPr>
            <a:lvl7pPr>
              <a:defRPr sz="1650" b="0">
                <a:solidFill>
                  <a:srgbClr val="546455"/>
                </a:solidFill>
                <a:latin typeface="Arial"/>
                <a:ea typeface="Arial"/>
                <a:cs typeface="Arial"/>
              </a:defRPr>
            </a:lvl7pPr>
            <a:lvl8pPr>
              <a:defRPr sz="1650" b="0">
                <a:solidFill>
                  <a:srgbClr val="546455"/>
                </a:solidFill>
                <a:latin typeface="Arial"/>
                <a:ea typeface="Arial"/>
                <a:cs typeface="Arial"/>
              </a:defRPr>
            </a:lvl8pPr>
            <a:lvl9pPr>
              <a:defRPr sz="1650" b="0">
                <a:solidFill>
                  <a:srgbClr val="546455"/>
                </a:solidFill>
                <a:latin typeface="Arial"/>
                <a:ea typeface="Arial"/>
                <a:cs typeface="Arial"/>
              </a:defRPr>
            </a:lvl9pPr>
          </a:lstStyle>
          <a:p xmlns:a="http://schemas.openxmlformats.org/drawingml/2006/main">
            <a:pPr>
              <a:defRPr sz="1650" b="0">
                <a:solidFill>
                  <a:srgbClr val="546455"/>
                </a:solidFill>
                <a:latin typeface="Arial"/>
                <a:ea typeface="Arial"/>
                <a:cs typeface="Arial"/>
              </a:defRPr>
            </a:pPr>
            <a:r>
              <a:rPr sz="1650" b="0">
                <a:solidFill>
                  <a:srgbClr val="546455"/>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936BE997-9734-4044-85F1-F281E7BB05FF}"/>
              </a:ext>
            </a:extLst>
          </p:cNvPr>
          <p:cNvPicPr>
            <a:picLocks xmlns:a="http://schemas.openxmlformats.org/drawingml/2006/main" noChangeAspect="1"/>
          </p:cNvPicPr>
          <p:nvPr/>
        </p:nvPicPr>
        <p:blipFill>
          <a:blip xmlns:r="http://schemas.openxmlformats.org/officeDocument/2006/relationships" xmlns:a="http://schemas.openxmlformats.org/drawingml/2006/main" r:embed="R6250361a7dd24696"/>
          <a:stretch xmlns:a="http://schemas.openxmlformats.org/drawingml/2006/main"/>
        </p:blipFill>
        <p:spPr>
          <a:xfrm xmlns:a="http://schemas.openxmlformats.org/drawingml/2006/main">
            <a:off x="609600" y="1478340"/>
            <a:ext cx="6715125" cy="4034671"/>
          </a:xfrm>
          <a:prstGeom xmlns:a="http://schemas.openxmlformats.org/drawingml/2006/main" prst="rect">
            <a:avLst/>
          </a:prstGeom>
        </p:spPr>
      </p:pic>
      <p:sp>
        <p:nvSpPr>
          <p:cNvPr id="4" name="Cloud teardown complete">
            <a:extLst xmlns:a="http://schemas.openxmlformats.org/drawingml/2006/main">
              <a:ext uri="{FF2B5EF4-FFF2-40B4-BE49-F238E27FC236}">
                <a16:creationId xmlns:a16="http://schemas.microsoft.com/office/drawing/2014/main" id="{1981E7AA-1DD4-4063-AC35-E0D020FBCB1C}"/>
              </a:ext>
            </a:extLst>
          </p:cNvPr>
          <p:cNvSpPr>
            <a:spLocks xmlns:a="http://schemas.openxmlformats.org/drawingml/2006/main" noGrp="1"/>
          </p:cNvSpPr>
          <p:nvPr/>
        </p:nvSpPr>
        <p:spPr>
          <a:xfrm xmlns:a="http://schemas.openxmlformats.org/drawingml/2006/main">
            <a:off x="7810500" y="1552575"/>
            <a:ext cx="3771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82B"/>
                </a:solidFill>
                <a:latin typeface="Arial"/>
                <a:ea typeface="Arial"/>
                <a:cs typeface="Arial"/>
              </a:defRPr>
            </a:defPPr>
            <a:lvl1pPr>
              <a:defRPr sz="2400" b="1">
                <a:solidFill>
                  <a:srgbClr val="17382B"/>
                </a:solidFill>
                <a:latin typeface="Arial"/>
                <a:ea typeface="Arial"/>
                <a:cs typeface="Arial"/>
              </a:defRPr>
            </a:lvl1pPr>
            <a:lvl2pPr>
              <a:defRPr sz="2400" b="1">
                <a:solidFill>
                  <a:srgbClr val="17382B"/>
                </a:solidFill>
                <a:latin typeface="Arial"/>
                <a:ea typeface="Arial"/>
                <a:cs typeface="Arial"/>
              </a:defRPr>
            </a:lvl2pPr>
            <a:lvl3pPr>
              <a:defRPr sz="2400" b="1">
                <a:solidFill>
                  <a:srgbClr val="17382B"/>
                </a:solidFill>
                <a:latin typeface="Arial"/>
                <a:ea typeface="Arial"/>
                <a:cs typeface="Arial"/>
              </a:defRPr>
            </a:lvl3pPr>
            <a:lvl4pPr>
              <a:defRPr sz="2400" b="1">
                <a:solidFill>
                  <a:srgbClr val="17382B"/>
                </a:solidFill>
                <a:latin typeface="Arial"/>
                <a:ea typeface="Arial"/>
                <a:cs typeface="Arial"/>
              </a:defRPr>
            </a:lvl4pPr>
            <a:lvl5pPr>
              <a:defRPr sz="2400" b="1">
                <a:solidFill>
                  <a:srgbClr val="17382B"/>
                </a:solidFill>
                <a:latin typeface="Arial"/>
                <a:ea typeface="Arial"/>
                <a:cs typeface="Arial"/>
              </a:defRPr>
            </a:lvl5pPr>
            <a:lvl6pPr>
              <a:defRPr sz="2400" b="1">
                <a:solidFill>
                  <a:srgbClr val="17382B"/>
                </a:solidFill>
                <a:latin typeface="Arial"/>
                <a:ea typeface="Arial"/>
                <a:cs typeface="Arial"/>
              </a:defRPr>
            </a:lvl6pPr>
            <a:lvl7pPr>
              <a:defRPr sz="2400" b="1">
                <a:solidFill>
                  <a:srgbClr val="17382B"/>
                </a:solidFill>
                <a:latin typeface="Arial"/>
                <a:ea typeface="Arial"/>
                <a:cs typeface="Arial"/>
              </a:defRPr>
            </a:lvl7pPr>
            <a:lvl8pPr>
              <a:defRPr sz="2400" b="1">
                <a:solidFill>
                  <a:srgbClr val="17382B"/>
                </a:solidFill>
                <a:latin typeface="Arial"/>
                <a:ea typeface="Arial"/>
                <a:cs typeface="Arial"/>
              </a:defRPr>
            </a:lvl8pPr>
            <a:lvl9pPr>
              <a:defRPr sz="2400" b="1">
                <a:solidFill>
                  <a:srgbClr val="17382B"/>
                </a:solidFill>
                <a:latin typeface="Arial"/>
                <a:ea typeface="Arial"/>
                <a:cs typeface="Arial"/>
              </a:defRPr>
            </a:lvl9pPr>
          </a:lstStyle>
          <a:p xmlns:a="http://schemas.openxmlformats.org/drawingml/2006/main">
            <a:pPr>
              <a:defRPr sz="2400" b="1">
                <a:solidFill>
                  <a:srgbClr val="17382B"/>
                </a:solidFill>
                <a:latin typeface="Arial"/>
                <a:ea typeface="Arial"/>
                <a:cs typeface="Arial"/>
              </a:defRPr>
            </a:pPr>
            <a:r>
              <a:rPr sz="2400" b="1">
                <a:solidFill>
                  <a:srgbClr val="17382B"/>
                </a:solidFill>
                <a:latin typeface="Arial"/>
                <a:ea typeface="Arial"/>
                <a:cs typeface="Arial"/>
              </a:rPr>
              <a:t>Cloud teardown complete</a:t>
            </a:r>
          </a:p>
        </p:txBody>
      </p:sp>
      <p:sp>
        <p:nvSpPr>
          <p:cNvPr id="5" name="Independent audit confirms no project EKS, VPC, active ">
            <a:extLst xmlns:a="http://schemas.openxmlformats.org/drawingml/2006/main">
              <a:ext uri="{FF2B5EF4-FFF2-40B4-BE49-F238E27FC236}">
                <a16:creationId xmlns:a16="http://schemas.microsoft.com/office/drawing/2014/main" id="{848774D4-8566-435C-AA93-9B429D35142E}"/>
              </a:ext>
            </a:extLst>
          </p:cNvPr>
          <p:cNvSpPr>
            <a:spLocks xmlns:a="http://schemas.openxmlformats.org/drawingml/2006/main" noGrp="1"/>
          </p:cNvSpPr>
          <p:nvPr/>
        </p:nvSpPr>
        <p:spPr>
          <a:xfrm xmlns:a="http://schemas.openxmlformats.org/drawingml/2006/main">
            <a:off x="7810500" y="2505075"/>
            <a:ext cx="3771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46455"/>
                </a:solidFill>
                <a:latin typeface="Arial"/>
                <a:ea typeface="Arial"/>
                <a:cs typeface="Arial"/>
              </a:defRPr>
            </a:defPPr>
            <a:lvl1pPr>
              <a:defRPr sz="2025" b="0">
                <a:solidFill>
                  <a:srgbClr val="546455"/>
                </a:solidFill>
                <a:latin typeface="Arial"/>
                <a:ea typeface="Arial"/>
                <a:cs typeface="Arial"/>
              </a:defRPr>
            </a:lvl1pPr>
            <a:lvl2pPr>
              <a:defRPr sz="2025" b="0">
                <a:solidFill>
                  <a:srgbClr val="546455"/>
                </a:solidFill>
                <a:latin typeface="Arial"/>
                <a:ea typeface="Arial"/>
                <a:cs typeface="Arial"/>
              </a:defRPr>
            </a:lvl2pPr>
            <a:lvl3pPr>
              <a:defRPr sz="2025" b="0">
                <a:solidFill>
                  <a:srgbClr val="546455"/>
                </a:solidFill>
                <a:latin typeface="Arial"/>
                <a:ea typeface="Arial"/>
                <a:cs typeface="Arial"/>
              </a:defRPr>
            </a:lvl3pPr>
            <a:lvl4pPr>
              <a:defRPr sz="2025" b="0">
                <a:solidFill>
                  <a:srgbClr val="546455"/>
                </a:solidFill>
                <a:latin typeface="Arial"/>
                <a:ea typeface="Arial"/>
                <a:cs typeface="Arial"/>
              </a:defRPr>
            </a:lvl4pPr>
            <a:lvl5pPr>
              <a:defRPr sz="2025" b="0">
                <a:solidFill>
                  <a:srgbClr val="546455"/>
                </a:solidFill>
                <a:latin typeface="Arial"/>
                <a:ea typeface="Arial"/>
                <a:cs typeface="Arial"/>
              </a:defRPr>
            </a:lvl5pPr>
            <a:lvl6pPr>
              <a:defRPr sz="2025" b="0">
                <a:solidFill>
                  <a:srgbClr val="546455"/>
                </a:solidFill>
                <a:latin typeface="Arial"/>
                <a:ea typeface="Arial"/>
                <a:cs typeface="Arial"/>
              </a:defRPr>
            </a:lvl6pPr>
            <a:lvl7pPr>
              <a:defRPr sz="2025" b="0">
                <a:solidFill>
                  <a:srgbClr val="546455"/>
                </a:solidFill>
                <a:latin typeface="Arial"/>
                <a:ea typeface="Arial"/>
                <a:cs typeface="Arial"/>
              </a:defRPr>
            </a:lvl7pPr>
            <a:lvl8pPr>
              <a:defRPr sz="2025" b="0">
                <a:solidFill>
                  <a:srgbClr val="546455"/>
                </a:solidFill>
                <a:latin typeface="Arial"/>
                <a:ea typeface="Arial"/>
                <a:cs typeface="Arial"/>
              </a:defRPr>
            </a:lvl8pPr>
            <a:lvl9pPr>
              <a:defRPr sz="2025" b="0">
                <a:solidFill>
                  <a:srgbClr val="546455"/>
                </a:solidFill>
                <a:latin typeface="Arial"/>
                <a:ea typeface="Arial"/>
                <a:cs typeface="Arial"/>
              </a:defRPr>
            </a:lvl9pPr>
          </a:lstStyle>
          <a:p xmlns:a="http://schemas.openxmlformats.org/drawingml/2006/main">
            <a:pPr>
              <a:defRPr sz="2025" b="0">
                <a:solidFill>
                  <a:srgbClr val="546455"/>
                </a:solidFill>
                <a:latin typeface="Arial"/>
                <a:ea typeface="Arial"/>
                <a:cs typeface="Arial"/>
              </a:defRPr>
            </a:pPr>
            <a:r>
              <a:rPr sz="2025" b="0">
                <a:solidFill>
                  <a:srgbClr val="546455"/>
                </a:solidFill>
                <a:latin typeface="Arial"/>
                <a:ea typeface="Arial"/>
                <a:cs typeface="Arial"/>
              </a:rPr>
              <a:t>Independent audit confirms no project EKS, VPC, active workers or volumes remain.</a:t>
            </a:r>
          </a:p>
        </p:txBody>
      </p:sp>
      <p:sp>
        <p:nvSpPr>
          <p:cNvPr id="6" name="Source, 75 screenshots, the video and this deck remain ">
            <a:extLst xmlns:a="http://schemas.openxmlformats.org/drawingml/2006/main">
              <a:ext uri="{FF2B5EF4-FFF2-40B4-BE49-F238E27FC236}">
                <a16:creationId xmlns:a16="http://schemas.microsoft.com/office/drawing/2014/main" id="{530FD490-3E20-49CA-B67F-DB297A548C50}"/>
              </a:ext>
            </a:extLst>
          </p:cNvPr>
          <p:cNvSpPr>
            <a:spLocks xmlns:a="http://schemas.openxmlformats.org/drawingml/2006/main" noGrp="1"/>
          </p:cNvSpPr>
          <p:nvPr/>
        </p:nvSpPr>
        <p:spPr>
          <a:xfrm xmlns:a="http://schemas.openxmlformats.org/drawingml/2006/main">
            <a:off x="7810500" y="4238625"/>
            <a:ext cx="37719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46455"/>
                </a:solidFill>
                <a:latin typeface="Arial"/>
                <a:ea typeface="Arial"/>
                <a:cs typeface="Arial"/>
              </a:defRPr>
            </a:defPPr>
            <a:lvl1pPr>
              <a:defRPr sz="2025" b="0">
                <a:solidFill>
                  <a:srgbClr val="546455"/>
                </a:solidFill>
                <a:latin typeface="Arial"/>
                <a:ea typeface="Arial"/>
                <a:cs typeface="Arial"/>
              </a:defRPr>
            </a:lvl1pPr>
            <a:lvl2pPr>
              <a:defRPr sz="2025" b="0">
                <a:solidFill>
                  <a:srgbClr val="546455"/>
                </a:solidFill>
                <a:latin typeface="Arial"/>
                <a:ea typeface="Arial"/>
                <a:cs typeface="Arial"/>
              </a:defRPr>
            </a:lvl2pPr>
            <a:lvl3pPr>
              <a:defRPr sz="2025" b="0">
                <a:solidFill>
                  <a:srgbClr val="546455"/>
                </a:solidFill>
                <a:latin typeface="Arial"/>
                <a:ea typeface="Arial"/>
                <a:cs typeface="Arial"/>
              </a:defRPr>
            </a:lvl3pPr>
            <a:lvl4pPr>
              <a:defRPr sz="2025" b="0">
                <a:solidFill>
                  <a:srgbClr val="546455"/>
                </a:solidFill>
                <a:latin typeface="Arial"/>
                <a:ea typeface="Arial"/>
                <a:cs typeface="Arial"/>
              </a:defRPr>
            </a:lvl4pPr>
            <a:lvl5pPr>
              <a:defRPr sz="2025" b="0">
                <a:solidFill>
                  <a:srgbClr val="546455"/>
                </a:solidFill>
                <a:latin typeface="Arial"/>
                <a:ea typeface="Arial"/>
                <a:cs typeface="Arial"/>
              </a:defRPr>
            </a:lvl5pPr>
            <a:lvl6pPr>
              <a:defRPr sz="2025" b="0">
                <a:solidFill>
                  <a:srgbClr val="546455"/>
                </a:solidFill>
                <a:latin typeface="Arial"/>
                <a:ea typeface="Arial"/>
                <a:cs typeface="Arial"/>
              </a:defRPr>
            </a:lvl6pPr>
            <a:lvl7pPr>
              <a:defRPr sz="2025" b="0">
                <a:solidFill>
                  <a:srgbClr val="546455"/>
                </a:solidFill>
                <a:latin typeface="Arial"/>
                <a:ea typeface="Arial"/>
                <a:cs typeface="Arial"/>
              </a:defRPr>
            </a:lvl7pPr>
            <a:lvl8pPr>
              <a:defRPr sz="2025" b="0">
                <a:solidFill>
                  <a:srgbClr val="546455"/>
                </a:solidFill>
                <a:latin typeface="Arial"/>
                <a:ea typeface="Arial"/>
                <a:cs typeface="Arial"/>
              </a:defRPr>
            </a:lvl8pPr>
            <a:lvl9pPr>
              <a:defRPr sz="2025" b="0">
                <a:solidFill>
                  <a:srgbClr val="546455"/>
                </a:solidFill>
                <a:latin typeface="Arial"/>
                <a:ea typeface="Arial"/>
                <a:cs typeface="Arial"/>
              </a:defRPr>
            </a:lvl9pPr>
          </a:lstStyle>
          <a:p xmlns:a="http://schemas.openxmlformats.org/drawingml/2006/main">
            <a:pPr>
              <a:defRPr sz="2025" b="0">
                <a:solidFill>
                  <a:srgbClr val="546455"/>
                </a:solidFill>
                <a:latin typeface="Arial"/>
                <a:ea typeface="Arial"/>
                <a:cs typeface="Arial"/>
              </a:defRPr>
            </a:pPr>
            <a:r>
              <a:rPr sz="2025" b="0">
                <a:solidFill>
                  <a:srgbClr val="546455"/>
                </a:solidFill>
                <a:latin typeface="Arial"/>
                <a:ea typeface="Arial"/>
                <a:cs typeface="Arial"/>
              </a:rPr>
              <a:t>Source, 75 screenshots, the video and this deck remain in the repository.</a:t>
            </a:r>
          </a:p>
        </p:txBody>
      </p:sp>
      <p:sp>
        <p:nvSpPr>
          <p:cNvPr id="7" name="github.com/Yeashu/DevOps-Capstone">
            <a:extLst xmlns:a="http://schemas.openxmlformats.org/drawingml/2006/main">
              <a:ext uri="{FF2B5EF4-FFF2-40B4-BE49-F238E27FC236}">
                <a16:creationId xmlns:a16="http://schemas.microsoft.com/office/drawing/2014/main" id="{8B37B713-AD21-413D-B83A-6C5E68B226A3}"/>
              </a:ext>
            </a:extLst>
          </p:cNvPr>
          <p:cNvSpPr>
            <a:spLocks xmlns:a="http://schemas.openxmlformats.org/drawingml/2006/main" noGrp="1"/>
          </p:cNvSpPr>
          <p:nvPr/>
        </p:nvSpPr>
        <p:spPr>
          <a:xfrm xmlns:a="http://schemas.openxmlformats.org/drawingml/2006/main">
            <a:off x="609600" y="594360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496D37"/>
                </a:solidFill>
                <a:latin typeface="Arial"/>
                <a:ea typeface="Arial"/>
                <a:cs typeface="Arial"/>
              </a:defRPr>
            </a:defPPr>
            <a:lvl1pPr>
              <a:defRPr sz="2250" b="1">
                <a:solidFill>
                  <a:srgbClr val="496D37"/>
                </a:solidFill>
                <a:latin typeface="Arial"/>
                <a:ea typeface="Arial"/>
                <a:cs typeface="Arial"/>
              </a:defRPr>
            </a:lvl1pPr>
            <a:lvl2pPr>
              <a:defRPr sz="2250" b="1">
                <a:solidFill>
                  <a:srgbClr val="496D37"/>
                </a:solidFill>
                <a:latin typeface="Arial"/>
                <a:ea typeface="Arial"/>
                <a:cs typeface="Arial"/>
              </a:defRPr>
            </a:lvl2pPr>
            <a:lvl3pPr>
              <a:defRPr sz="2250" b="1">
                <a:solidFill>
                  <a:srgbClr val="496D37"/>
                </a:solidFill>
                <a:latin typeface="Arial"/>
                <a:ea typeface="Arial"/>
                <a:cs typeface="Arial"/>
              </a:defRPr>
            </a:lvl3pPr>
            <a:lvl4pPr>
              <a:defRPr sz="2250" b="1">
                <a:solidFill>
                  <a:srgbClr val="496D37"/>
                </a:solidFill>
                <a:latin typeface="Arial"/>
                <a:ea typeface="Arial"/>
                <a:cs typeface="Arial"/>
              </a:defRPr>
            </a:lvl4pPr>
            <a:lvl5pPr>
              <a:defRPr sz="2250" b="1">
                <a:solidFill>
                  <a:srgbClr val="496D37"/>
                </a:solidFill>
                <a:latin typeface="Arial"/>
                <a:ea typeface="Arial"/>
                <a:cs typeface="Arial"/>
              </a:defRPr>
            </a:lvl5pPr>
            <a:lvl6pPr>
              <a:defRPr sz="2250" b="1">
                <a:solidFill>
                  <a:srgbClr val="496D37"/>
                </a:solidFill>
                <a:latin typeface="Arial"/>
                <a:ea typeface="Arial"/>
                <a:cs typeface="Arial"/>
              </a:defRPr>
            </a:lvl6pPr>
            <a:lvl7pPr>
              <a:defRPr sz="2250" b="1">
                <a:solidFill>
                  <a:srgbClr val="496D37"/>
                </a:solidFill>
                <a:latin typeface="Arial"/>
                <a:ea typeface="Arial"/>
                <a:cs typeface="Arial"/>
              </a:defRPr>
            </a:lvl7pPr>
            <a:lvl8pPr>
              <a:defRPr sz="2250" b="1">
                <a:solidFill>
                  <a:srgbClr val="496D37"/>
                </a:solidFill>
                <a:latin typeface="Arial"/>
                <a:ea typeface="Arial"/>
                <a:cs typeface="Arial"/>
              </a:defRPr>
            </a:lvl8pPr>
            <a:lvl9pPr>
              <a:defRPr sz="2250" b="1">
                <a:solidFill>
                  <a:srgbClr val="496D37"/>
                </a:solidFill>
                <a:latin typeface="Arial"/>
                <a:ea typeface="Arial"/>
                <a:cs typeface="Arial"/>
              </a:defRPr>
            </a:lvl9pPr>
          </a:lstStyle>
          <a:p xmlns:a="http://schemas.openxmlformats.org/drawingml/2006/main">
            <a:pPr>
              <a:defRPr sz="2250" b="1">
                <a:solidFill>
                  <a:srgbClr val="496D37"/>
                </a:solidFill>
                <a:latin typeface="Arial"/>
                <a:ea typeface="Arial"/>
                <a:cs typeface="Arial"/>
              </a:defRPr>
            </a:pPr>
            <a:r>
              <a:rPr sz="2250" b="1">
                <a:solidFill>
                  <a:srgbClr val="496D37"/>
                </a:solidFill>
                <a:latin typeface="Arial"/>
                <a:ea typeface="Arial"/>
                <a:cs typeface="Arial"/>
                <a:hlinkClick xmlns:r="http://schemas.openxmlformats.org/officeDocument/2006/relationships" r:id="R1a30e37a52b6456e"/>
              </a:rPr>
              <a:t>github.com/Yeashu/DevOps-Capstone</a:t>
            </a:r>
          </a:p>
        </p:txBody>
      </p:sp>
    </p:spTree>
    <p:extLst>
      <p:ext uri="{BB962C8B-B14F-4D97-AF65-F5344CB8AC3E}">
        <p14:creationId xmlns:p14="http://schemas.microsoft.com/office/powerpoint/2010/main" val="4704966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2026-10-26T08:57:12.7220000Z</dcterms:created>
  <dcterms:modified xsi:type="dcterms:W3CDTF">2026-10-26T08:57:12.7220000Z</dcterms:modified>
</coreProperties>
</file>