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e39604db72493b" /><Relationship Type="http://schemas.openxmlformats.org/officeDocument/2006/relationships/extended-properties" Target="/docProps/app.xml" Id="R7a30be3d3ac94fd0" /><Relationship Type="http://schemas.openxmlformats.org/officeDocument/2006/relationships/officeDocument" Target="/ppt/presentation.xml" Id="R0063ed55ff034b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f096a74b84445d"/>
  </p:sldMasterIdLst>
  <p:notesMasterIdLst>
    <p:notesMasterId xmlns:r="http://schemas.openxmlformats.org/officeDocument/2006/relationships" r:id="R7f53968093224baa"/>
  </p:notesMasterIdLst>
  <p:sldIdLst>
    <p:sldId xmlns:r="http://schemas.openxmlformats.org/officeDocument/2006/relationships" id="256" r:id="Re6d6b3df76744b44"/>
    <p:sldId xmlns:r="http://schemas.openxmlformats.org/officeDocument/2006/relationships" id="257" r:id="Ra7fa0e0c83544b85"/>
    <p:sldId xmlns:r="http://schemas.openxmlformats.org/officeDocument/2006/relationships" id="258" r:id="R6952df2ab839499b"/>
    <p:sldId xmlns:r="http://schemas.openxmlformats.org/officeDocument/2006/relationships" id="259" r:id="Rde2501e40b344ec8"/>
    <p:sldId xmlns:r="http://schemas.openxmlformats.org/officeDocument/2006/relationships" id="260" r:id="R49d288caac1a448a"/>
    <p:sldId xmlns:r="http://schemas.openxmlformats.org/officeDocument/2006/relationships" id="261" r:id="Rc15d00d222104b95"/>
    <p:sldId xmlns:r="http://schemas.openxmlformats.org/officeDocument/2006/relationships" id="262" r:id="R80d8691a226e453c"/>
    <p:sldId xmlns:r="http://schemas.openxmlformats.org/officeDocument/2006/relationships" id="263" r:id="R32d8af5300ee416b"/>
    <p:sldId xmlns:r="http://schemas.openxmlformats.org/officeDocument/2006/relationships" id="264" r:id="Rfd5d5ec2e0f8458f"/>
    <p:sldId xmlns:r="http://schemas.openxmlformats.org/officeDocument/2006/relationships" id="265" r:id="Raa757b2d29a04694"/>
    <p:sldId xmlns:r="http://schemas.openxmlformats.org/officeDocument/2006/relationships" id="266" r:id="R139d628d8e554d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5cfcaaff374f7b" /><Relationship Type="http://schemas.openxmlformats.org/officeDocument/2006/relationships/slideMaster" Target="/ppt/slideMasters/slideMaster1.xml" Id="R17f096a74b84445d" /><Relationship Type="http://schemas.openxmlformats.org/officeDocument/2006/relationships/notesMaster" Target="/ppt/notesMasters/notesMaster1.xml" Id="R7f53968093224baa" /><Relationship Type="http://schemas.openxmlformats.org/officeDocument/2006/relationships/presProps" Target="/ppt/presProps.xml" Id="R9732ad824ad74e60" /><Relationship Type="http://schemas.openxmlformats.org/officeDocument/2006/relationships/tableStyles" Target="/ppt/tableStyles.xml" Id="R09eaaa8918e144e4" /><Relationship Type="http://schemas.openxmlformats.org/officeDocument/2006/relationships/slide" Target="/ppt/slides/slide1.xml" Id="Re6d6b3df76744b44" /><Relationship Type="http://schemas.openxmlformats.org/officeDocument/2006/relationships/slide" Target="/ppt/slides/slide2.xml" Id="Ra7fa0e0c83544b85" /><Relationship Type="http://schemas.openxmlformats.org/officeDocument/2006/relationships/slide" Target="/ppt/slides/slide3.xml" Id="R6952df2ab839499b" /><Relationship Type="http://schemas.openxmlformats.org/officeDocument/2006/relationships/slide" Target="/ppt/slides/slide4.xml" Id="Rde2501e40b344ec8" /><Relationship Type="http://schemas.openxmlformats.org/officeDocument/2006/relationships/slide" Target="/ppt/slides/slide5.xml" Id="R49d288caac1a448a" /><Relationship Type="http://schemas.openxmlformats.org/officeDocument/2006/relationships/slide" Target="/ppt/slides/slide6.xml" Id="Rc15d00d222104b95" /><Relationship Type="http://schemas.openxmlformats.org/officeDocument/2006/relationships/slide" Target="/ppt/slides/slide7.xml" Id="R80d8691a226e453c" /><Relationship Type="http://schemas.openxmlformats.org/officeDocument/2006/relationships/slide" Target="/ppt/slides/slide8.xml" Id="R32d8af5300ee416b" /><Relationship Type="http://schemas.openxmlformats.org/officeDocument/2006/relationships/slide" Target="/ppt/slides/slide9.xml" Id="Rfd5d5ec2e0f8458f" /><Relationship Type="http://schemas.openxmlformats.org/officeDocument/2006/relationships/slide" Target="/ppt/slides/slide10.xml" Id="Raa757b2d29a04694" /><Relationship Type="http://schemas.openxmlformats.org/officeDocument/2006/relationships/slide" Target="/ppt/slides/slide11.xml" Id="R139d628d8e554d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3d3821176a48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ef2df8d2dd44f3" /><Relationship Type="http://schemas.openxmlformats.org/officeDocument/2006/relationships/notesMaster" Target="/ppt/notesMasters/notesMaster1.xml" Id="R2b46fbfae0894e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93eaa10ed5492e" /><Relationship Type="http://schemas.openxmlformats.org/officeDocument/2006/relationships/notesMaster" Target="/ppt/notesMasters/notesMaster1.xml" Id="R603c14101e3f46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2d3f9266ea4909" /><Relationship Type="http://schemas.openxmlformats.org/officeDocument/2006/relationships/notesMaster" Target="/ppt/notesMasters/notesMaster1.xml" Id="Rf550e0bba6c843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d54b9932324de2" /><Relationship Type="http://schemas.openxmlformats.org/officeDocument/2006/relationships/notesMaster" Target="/ppt/notesMasters/notesMaster1.xml" Id="Rf70203c72da040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0c7d75de704af9" /><Relationship Type="http://schemas.openxmlformats.org/officeDocument/2006/relationships/notesMaster" Target="/ppt/notesMasters/notesMaster1.xml" Id="R1575254304d241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8a47e701284e40" /><Relationship Type="http://schemas.openxmlformats.org/officeDocument/2006/relationships/notesMaster" Target="/ppt/notesMasters/notesMaster1.xml" Id="R6e7fd0ce8ed74a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93aebb74124bab" /><Relationship Type="http://schemas.openxmlformats.org/officeDocument/2006/relationships/notesMaster" Target="/ppt/notesMasters/notesMaster1.xml" Id="Rbdd756221b0e48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6e0fb3949d4865" /><Relationship Type="http://schemas.openxmlformats.org/officeDocument/2006/relationships/notesMaster" Target="/ppt/notesMasters/notesMaster1.xml" Id="Rff69abf6b0bf4f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4b257355d741ff" /><Relationship Type="http://schemas.openxmlformats.org/officeDocument/2006/relationships/notesMaster" Target="/ppt/notesMasters/notesMaster1.xml" Id="R31fd8d4a8bc64ea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206a054fbf4d55" /><Relationship Type="http://schemas.openxmlformats.org/officeDocument/2006/relationships/notesMaster" Target="/ppt/notesMasters/notesMaster1.xml" Id="R6ee662d0dfcc40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35c9f618cc443e" /><Relationship Type="http://schemas.openxmlformats.org/officeDocument/2006/relationships/notesMaster" Target="/ppt/notesMasters/notesMaster1.xml" Id="R60c7aafdc11c46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https://github.com/Yeashu/DevOps-Capstone/blob/main/README.md</a:t>
            </a:r>
          </a:p>
          <a:p xmlns:a="http://schemas.openxmlformats.org/drawingml/2006/main">
            <a:r>
              <a:t>https://github.com/Yeashu/DevOps-Capstone/blob/main/docs/screenshots/01-application-desktop.png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https://github.com/Yeashu/DevOps-Capstone/blob/main/backend/app/routes.py</a:t>
            </a:r>
          </a:p>
          <a:p xmlns:a="http://schemas.openxmlformats.org/drawingml/2006/main">
            <a:r>
              <a:t>https://github.com/Yeashu/DevOps-Capstone/blob/main/backend/app/calculator.py</a:t>
            </a:r>
          </a:p>
          <a:p xmlns:a="http://schemas.openxmlformats.org/drawingml/2006/main">
            <a:r>
              <a:t>https://github.com/Yeashu/DevOps-Capstone/blob/main/backend/app/main.py</a:t>
            </a:r>
          </a:p>
          <a:p xmlns:a="http://schemas.openxmlformats.org/drawingml/2006/main">
            <a:r>
              <a:t>https://github.com/Yeashu/DevOps-Capstone/blob/main/README.md#architecture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https://github.com/Yeashu/DevOps-Capstone/blob/main/docs/evidence/pytest.txt</a:t>
            </a:r>
          </a:p>
          <a:p xmlns:a="http://schemas.openxmlformats.org/drawingml/2006/main">
            <a:r>
              <a:t>https://github.com/Yeashu/DevOps-Capstone/blob/main/docs/evidence/hosted-pytest.txt</a:t>
            </a:r>
          </a:p>
          <a:p xmlns:a="http://schemas.openxmlformats.org/drawingml/2006/main">
            <a:r>
              <a:t>https://github.com/Yeashu/DevOps-Capstone/blob/main/docs/screenshots/pytest-03.png</a:t>
            </a:r>
          </a:p>
          <a:p xmlns:a="http://schemas.openxmlformats.org/drawingml/2006/main">
            <a:r>
              <a:t>https://github.com/Yeashu/DevOps-Capstone/blob/main/frontend/package.json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https://github.com/Yeashu/DevOps-Capstone/blob/main/docker-compose.yml</a:t>
            </a:r>
          </a:p>
          <a:p xmlns:a="http://schemas.openxmlformats.org/drawingml/2006/main">
            <a:r>
              <a:t>https://github.com/Yeashu/DevOps-Capstone/blob/main/backend/Dockerfile</a:t>
            </a:r>
          </a:p>
          <a:p xmlns:a="http://schemas.openxmlformats.org/drawingml/2006/main">
            <a:r>
              <a:t>https://github.com/Yeashu/DevOps-Capstone/blob/main/frontend/Dockerfile</a:t>
            </a:r>
          </a:p>
          <a:p xmlns:a="http://schemas.openxmlformats.org/drawingml/2006/main">
            <a:r>
              <a:t>https://github.com/Yeashu/DevOps-Capstone/blob/main/docs/screenshots/docker-compose-status.png</a:t>
            </a:r>
          </a:p>
          <a:p xmlns:a="http://schemas.openxmlformats.org/drawingml/2006/main">
            <a:r>
              <a:t>https://github.com/Yeashu/DevOps-Capstone/blob/main/docs/evidence/non-root-users.txt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https://github.com/Yeashu/DevOps-Capstone/blob/main/.github/workflows/ci.yml</a:t>
            </a:r>
          </a:p>
          <a:p xmlns:a="http://schemas.openxmlformats.org/drawingml/2006/main">
            <a:r>
              <a:t>https://github.com/Yeashu/DevOps-Capstone/blob/main/docs/screenshots/github-actions-success.png</a:t>
            </a:r>
          </a:p>
          <a:p xmlns:a="http://schemas.openxmlformats.org/drawingml/2006/main">
            <a:r>
              <a:t>https://github.com/Yeashu/DevOps-Capstone/actions/runs/38959438459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https://github.com/Yeashu/DevOps-Capstone/blob/main/security/README.md</a:t>
            </a:r>
          </a:p>
          <a:p xmlns:a="http://schemas.openxmlformats.org/drawingml/2006/main">
            <a:r>
              <a:t>https://github.com/Yeashu/DevOps-Capstone/blob/main/docs/evidence/trivy-backend.txt</a:t>
            </a:r>
          </a:p>
          <a:p xmlns:a="http://schemas.openxmlformats.org/drawingml/2006/main">
            <a:r>
              <a:t>https://github.com/Yeashu/DevOps-Capstone/blob/main/docs/evidence/trivy-frontend.txt</a:t>
            </a:r>
          </a:p>
          <a:p xmlns:a="http://schemas.openxmlformats.org/drawingml/2006/main">
            <a:r>
              <a:t>https://github.com/Yeashu/DevOps-Capstone/blob/main/docs/screenshots/trivy-frontend.png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https://github.com/Yeashu/DevOps-Capstone/blob/main/terraform/vpc.tf</a:t>
            </a:r>
          </a:p>
          <a:p xmlns:a="http://schemas.openxmlformats.org/drawingml/2006/main">
            <a:r>
              <a:t>https://github.com/Yeashu/DevOps-Capstone/blob/main/terraform/eks.tf</a:t>
            </a:r>
          </a:p>
          <a:p xmlns:a="http://schemas.openxmlformats.org/drawingml/2006/main">
            <a:r>
              <a:t>https://github.com/Yeashu/DevOps-Capstone/blob/main/docs/evidence/terraform-plan.txt</a:t>
            </a:r>
          </a:p>
          <a:p xmlns:a="http://schemas.openxmlformats.org/drawingml/2006/main">
            <a:r>
              <a:t>https://github.com/Yeashu/DevOps-Capstone/blob/main/docs/evidence/terraform-apply.txt</a:t>
            </a:r>
          </a:p>
          <a:p xmlns:a="http://schemas.openxmlformats.org/drawingml/2006/main">
            <a:r>
              <a:t>https://github.com/Yeashu/DevOps-Capstone/blob/main/docs/screenshots/aws-eks-workers-console.png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https://github.com/Yeashu/DevOps-Capstone/blob/main/helm/orbit/values.yaml</a:t>
            </a:r>
          </a:p>
          <a:p xmlns:a="http://schemas.openxmlformats.org/drawingml/2006/main">
            <a:r>
              <a:t>https://github.com/Yeashu/DevOps-Capstone/blob/main/docs/evidence/eks-pods.txt</a:t>
            </a:r>
          </a:p>
          <a:p xmlns:a="http://schemas.openxmlformats.org/drawingml/2006/main">
            <a:r>
              <a:t>https://github.com/Yeashu/DevOps-Capstone/blob/main/docs/evidence/eks-services.txt</a:t>
            </a:r>
          </a:p>
          <a:p xmlns:a="http://schemas.openxmlformats.org/drawingml/2006/main">
            <a:r>
              <a:t>https://github.com/Yeashu/DevOps-Capstone/blob/main/docs/evidence/eks-ingress.txt</a:t>
            </a:r>
          </a:p>
          <a:p xmlns:a="http://schemas.openxmlformats.org/drawingml/2006/main">
            <a:r>
              <a:t>https://github.com/Yeashu/DevOps-Capstone/blob/main/docs/screenshots/eks-pods.png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https://github.com/Yeashu/DevOps-Capstone/blob/main/monitoring/</a:t>
            </a:r>
          </a:p>
          <a:p xmlns:a="http://schemas.openxmlformats.org/drawingml/2006/main">
            <a:r>
              <a:t>https://github.com/Yeashu/DevOps-Capstone/blob/main/docs/evidence/eks-prometheus-targets.json</a:t>
            </a:r>
          </a:p>
          <a:p xmlns:a="http://schemas.openxmlformats.org/drawingml/2006/main">
            <a:r>
              <a:t>https://github.com/Yeashu/DevOps-Capstone/blob/main/docs/evidence/eks-metrics.txt</a:t>
            </a:r>
          </a:p>
          <a:p xmlns:a="http://schemas.openxmlformats.org/drawingml/2006/main">
            <a:r>
              <a:t>https://github.com/Yeashu/DevOps-Capstone/blob/main/docs/screenshots/eks-grafana-dashboard.png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https://github.com/Yeashu/DevOps-Capstone/blob/main/docs/evidence/rollout-demo.json</a:t>
            </a:r>
          </a:p>
          <a:p xmlns:a="http://schemas.openxmlformats.org/drawingml/2006/main">
            <a:r>
              <a:t>https://github.com/Yeashu/DevOps-Capstone/blob/main/docs/evidence/eks-rollout.txt</a:t>
            </a:r>
          </a:p>
          <a:p xmlns:a="http://schemas.openxmlformats.org/drawingml/2006/main">
            <a:r>
              <a:t>https://github.com/Yeashu/DevOps-Capstone/blob/main/docs/screenshots/eks-updated-version.png</a:t>
            </a:r>
          </a:p>
          <a:p xmlns:a="http://schemas.openxmlformats.org/drawingml/2006/main">
            <a:r>
              <a:t>https://github.com/Yeashu/DevOps-Capstone/blob/main/docs/screenshots/eks-after-rollout.png</a:t>
            </a:r>
          </a:p>
          <a:p xmlns:a="http://schemas.openxmlformats.org/drawingml/2006/main">
            <a:r>
              <a:t>https://github.com/Yeashu/DevOps-Capstone/actions/runs/38947611595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https://github.com/Yeashu/DevOps-Capstone/blob/main/docs/screenshots/terraform-destroy.png</a:t>
            </a:r>
          </a:p>
          <a:p xmlns:a="http://schemas.openxmlformats.org/drawingml/2006/main">
            <a:r>
              <a:t>https://github.com/Yeashu/DevOps-Capstone/blob/main/docs/evidence/aws-cleanup-audit.json</a:t>
            </a:r>
          </a:p>
          <a:p xmlns:a="http://schemas.openxmlformats.org/drawingml/2006/main">
            <a:r>
              <a:t>https://github.com/Yeashu/DevOps-Capstone/blob/main/docs/evidence/aws-bootstrap-cleanup.json</a:t>
            </a:r>
          </a:p>
          <a:p xmlns:a="http://schemas.openxmlformats.org/drawingml/2006/main">
            <a:r>
              <a:t>https://github.com/Yeashu/DevOps-Capstone/blob/main/docs/evidence/final-workspace-cleanup.json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16b1f2b6ac45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81b499163b48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ee0626673249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15a22dd2ea45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4795b92a347a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e21203e5fe4e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FCCCA1-44D2-4E90-A75D-C8C14298D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E864AA-DD19-4BDB-84F9-051B605160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D9E2DEE-F6B5-4663-BA33-C5E0398EB4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63F2B2E-B493-496C-B056-593A5C59E8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68CA8AD-A1B6-4858-B57F-F26E3752CB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6EFFB31-0FB7-43B8-9F3D-7C0930F546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205D39-A571-4AF0-B120-4EE8C084A0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E381176-5FA8-4D54-A65F-ABC30C70ED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36EF16-A7E2-490F-8314-B10F7A95CA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15183E-3ECF-4EB7-B6D4-655D562B1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e9b3438f6b4403" /><Relationship Type="http://schemas.openxmlformats.org/officeDocument/2006/relationships/slideLayout" Target="/ppt/slideLayouts/slideLayout1.xml" Id="Rd932a55e92074b6a" /><Relationship Type="http://schemas.openxmlformats.org/officeDocument/2006/relationships/slideLayout" Target="/ppt/slideLayouts/slideLayout2.xml" Id="R2e9a9f5a208e4272" /><Relationship Type="http://schemas.openxmlformats.org/officeDocument/2006/relationships/slideLayout" Target="/ppt/slideLayouts/slideLayout3.xml" Id="R5521a935bf59443e" /><Relationship Type="http://schemas.openxmlformats.org/officeDocument/2006/relationships/slideLayout" Target="/ppt/slideLayouts/slideLayout4.xml" Id="R8ccc3ebc77fd41bc" /><Relationship Type="http://schemas.openxmlformats.org/officeDocument/2006/relationships/slideLayout" Target="/ppt/slideLayouts/slideLayout5.xml" Id="R782c8b71bc5345d3" /><Relationship Type="http://schemas.openxmlformats.org/officeDocument/2006/relationships/slideLayout" Target="/ppt/slideLayouts/slideLayout6.xml" Id="R3798061302bf41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32a55e92074b6a"/>
    <p:sldLayoutId xmlns:r="http://schemas.openxmlformats.org/officeDocument/2006/relationships" id="2147483650" r:id="R2e9a9f5a208e4272"/>
    <p:sldLayoutId xmlns:r="http://schemas.openxmlformats.org/officeDocument/2006/relationships" id="2147483651" r:id="R5521a935bf59443e"/>
    <p:sldLayoutId xmlns:r="http://schemas.openxmlformats.org/officeDocument/2006/relationships" id="2147483652" r:id="R8ccc3ebc77fd41bc"/>
    <p:sldLayoutId xmlns:r="http://schemas.openxmlformats.org/officeDocument/2006/relationships" id="2147483653" r:id="R782c8b71bc5345d3"/>
    <p:sldLayoutId xmlns:r="http://schemas.openxmlformats.org/officeDocument/2006/relationships" id="2147483654" r:id="R3798061302bf41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a1054e4aa441aa" /><Relationship Type="http://schemas.openxmlformats.org/officeDocument/2006/relationships/image" Target="/ppt/media/image.png" Id="R09f05d90636443c1" /><Relationship Type="http://schemas.openxmlformats.org/officeDocument/2006/relationships/notesSlide" Target="/ppt/notesSlides/notesSlide1.xml" Id="R1282c8223d2041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8d799561884910" /><Relationship Type="http://schemas.openxmlformats.org/officeDocument/2006/relationships/notesSlide" Target="/ppt/notesSlides/notesSlide2.xml" Id="Rd84b29c2c7cf4d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9401a09b2a4690" /><Relationship Type="http://schemas.openxmlformats.org/officeDocument/2006/relationships/image" Target="/ppt/media/image2.png" Id="Rb59b5e08be874972" /><Relationship Type="http://schemas.openxmlformats.org/officeDocument/2006/relationships/notesSlide" Target="/ppt/notesSlides/notesSlide3.xml" Id="R9885cce924c941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36db12eab641a7" /><Relationship Type="http://schemas.openxmlformats.org/officeDocument/2006/relationships/image" Target="/ppt/media/image3.png" Id="R7a1a99601dc544c0" /><Relationship Type="http://schemas.openxmlformats.org/officeDocument/2006/relationships/notesSlide" Target="/ppt/notesSlides/notesSlide4.xml" Id="R23acf2d3732c4e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f386f60ce64eeb" /><Relationship Type="http://schemas.openxmlformats.org/officeDocument/2006/relationships/image" Target="/ppt/media/image4.png" Id="R6287807ce7a44a0b" /><Relationship Type="http://schemas.openxmlformats.org/officeDocument/2006/relationships/notesSlide" Target="/ppt/notesSlides/notesSlide5.xml" Id="Rb1d367663baa45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086c8a123848fb" /><Relationship Type="http://schemas.openxmlformats.org/officeDocument/2006/relationships/image" Target="/ppt/media/image5.png" Id="Rebe36d5d74a345a7" /><Relationship Type="http://schemas.openxmlformats.org/officeDocument/2006/relationships/notesSlide" Target="/ppt/notesSlides/notesSlide6.xml" Id="R7662bd7707f44e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b19fd7a3384c30" /><Relationship Type="http://schemas.openxmlformats.org/officeDocument/2006/relationships/image" Target="/ppt/media/image6.png" Id="R346f4723ced64bba" /><Relationship Type="http://schemas.openxmlformats.org/officeDocument/2006/relationships/notesSlide" Target="/ppt/notesSlides/notesSlide7.xml" Id="R182442affef644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5b9566dff14a20" /><Relationship Type="http://schemas.openxmlformats.org/officeDocument/2006/relationships/image" Target="/ppt/media/image7.png" Id="R89a2c1925ea24443" /><Relationship Type="http://schemas.openxmlformats.org/officeDocument/2006/relationships/notesSlide" Target="/ppt/notesSlides/notesSlide8.xml" Id="Red4654cd43cc4e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0a585aa8e5480c" /><Relationship Type="http://schemas.openxmlformats.org/officeDocument/2006/relationships/image" Target="/ppt/media/image8.png" Id="R12d21eb0551f44a8" /><Relationship Type="http://schemas.openxmlformats.org/officeDocument/2006/relationships/notesSlide" Target="/ppt/notesSlides/notesSlide9.xml" Id="Reea03bc3821d4f4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5cb0e9ed6c4bc6" /><Relationship Type="http://schemas.openxmlformats.org/officeDocument/2006/relationships/image" Target="/ppt/media/image9.png" Id="R08d3942fe7e04bbd" /><Relationship Type="http://schemas.openxmlformats.org/officeDocument/2006/relationships/notesSlide" Target="/ppt/notesSlides/notesSlide10.xml" Id="Refcb13a750a04c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32059065d54203" /><Relationship Type="http://schemas.openxmlformats.org/officeDocument/2006/relationships/image" Target="/ppt/media/image10.png" Id="R690130632e324551" /><Relationship Type="http://schemas.openxmlformats.org/officeDocument/2006/relationships/hyperlink" Target="https://github.com/Yeashu/DevOps-Capstone" TargetMode="External" Id="Rb0dfc4f9171a46b1" /><Relationship Type="http://schemas.openxmlformats.org/officeDocument/2006/relationships/notesSlide" Target="/ppt/notesSlides/notesSlide11.xml" Id="R052f515bbbfb4c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B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Orbit">
            <a:extLst xmlns:a="http://schemas.openxmlformats.org/drawingml/2006/main">
              <a:ext uri="{FF2B5EF4-FFF2-40B4-BE49-F238E27FC236}">
                <a16:creationId xmlns:a16="http://schemas.microsoft.com/office/drawing/2014/main" id="{B1F50C1E-BBF0-4937-95FF-E8C61E8B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4667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7200" b="1">
                <a:solidFill>
                  <a:srgbClr val="F5F5ED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F5F5ED"/>
                </a:solidFill>
                <a:latin typeface="Arial"/>
                <a:ea typeface="Arial"/>
                <a:cs typeface="Arial"/>
              </a:rPr>
              <a:t>Orbit</a:t>
            </a:r>
          </a:p>
        </p:txBody>
      </p:sp>
      <p:sp>
        <p:nvSpPr>
          <p:cNvPr id="2" name="Scientific calculator">
            <a:extLst xmlns:a="http://schemas.openxmlformats.org/drawingml/2006/main">
              <a:ext uri="{FF2B5EF4-FFF2-40B4-BE49-F238E27FC236}">
                <a16:creationId xmlns:a16="http://schemas.microsoft.com/office/drawing/2014/main" id="{25916D05-9F3E-4778-A841-DAAB8D17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447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C4DCA9"/>
                </a:solidFill>
                <a:latin typeface="Arial"/>
                <a:ea typeface="Arial"/>
                <a:cs typeface="Arial"/>
              </a:rPr>
              <a:t>Scientific calculator</a:t>
            </a:r>
          </a:p>
        </p:txBody>
      </p:sp>
      <p:sp>
        <p:nvSpPr>
          <p:cNvPr id="3" name="DevOps final capstone">
            <a:extLst xmlns:a="http://schemas.openxmlformats.org/drawingml/2006/main">
              <a:ext uri="{FF2B5EF4-FFF2-40B4-BE49-F238E27FC236}">
                <a16:creationId xmlns:a16="http://schemas.microsoft.com/office/drawing/2014/main" id="{39771C20-988A-4BC2-8D1E-50EAA154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433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F5F5E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5ED"/>
                </a:solidFill>
                <a:latin typeface="Arial"/>
                <a:ea typeface="Arial"/>
                <a:cs typeface="Arial"/>
              </a:rPr>
              <a:t>DevOps final capstone</a:t>
            </a:r>
          </a:p>
        </p:txBody>
      </p:sp>
      <p:sp>
        <p:nvSpPr>
          <p:cNvPr id="4" name="Python / FastAPI / PostgreSQL">
            <a:extLst xmlns:a="http://schemas.openxmlformats.org/drawingml/2006/main">
              <a:ext uri="{FF2B5EF4-FFF2-40B4-BE49-F238E27FC236}">
                <a16:creationId xmlns:a16="http://schemas.microsoft.com/office/drawing/2014/main" id="{0B7A8E9C-1B9E-4DA0-9CEA-E8D13382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C4DCA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4DCA9"/>
                </a:solidFill>
                <a:latin typeface="Arial"/>
                <a:ea typeface="Arial"/>
                <a:cs typeface="Arial"/>
              </a:rPr>
              <a:t>Python / FastAPI / PostgreSQL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CEF50-0016-477D-88AF-0A599E31EA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05d90636443c1"/>
          <a:stretch xmlns:a="http://schemas.openxmlformats.org/drawingml/2006/main"/>
        </p:blipFill>
        <p:spPr>
          <a:xfrm xmlns:a="http://schemas.openxmlformats.org/drawingml/2006/main">
            <a:off x="5810250" y="1023878"/>
            <a:ext cx="5772150" cy="45816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6295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pplication architecture">
            <a:extLst xmlns:a="http://schemas.openxmlformats.org/drawingml/2006/main">
              <a:ext uri="{FF2B5EF4-FFF2-40B4-BE49-F238E27FC236}">
                <a16:creationId xmlns:a16="http://schemas.microsoft.com/office/drawing/2014/main" id="{0DA00E73-D7B7-4706-825C-818F989A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Application architecture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FAF4586A-FBF4-48AC-BE7D-C476A6D3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C7956-DE53-47AF-A2BE-D2974B03840E}"/>
              </a:ext>
            </a:extLst>
          </p:cNvPr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429000"/>
                <a:gridCol w="7543800"/>
              </a:tblGrid>
              <a:tr h="6667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5F5ED"/>
                          </a:solidFill>
                          <a:latin typeface="Arial"/>
                          <a:ea typeface="Arial"/>
                          <a:cs typeface="Arial"/>
                        </a:rPr>
                        <a:t>Layer</a:t>
                      </a:r>
                    </a:p>
                  </a:txBody>
                  <a:tcPr marL="171450" marR="171450" marT="133350" marB="133350">
                    <a:lnL w="9525">
                      <a:solidFill>
                        <a:srgbClr val="C9D0C1"/>
                      </a:solidFill>
                      <a:prstDash val="solid"/>
                    </a:lnL>
                    <a:lnR w="9525">
                      <a:solidFill>
                        <a:srgbClr val="C9D0C1"/>
                      </a:solidFill>
                      <a:prstDash val="solid"/>
                    </a:lnR>
                    <a:lnT w="9525">
                      <a:solidFill>
                        <a:srgbClr val="C9D0C1"/>
                      </a:solidFill>
                      <a:prstDash val="solid"/>
                    </a:lnT>
                    <a:lnB w="9525">
                      <a:solidFill>
                        <a:srgbClr val="C9D0C1"/>
                      </a:solidFill>
                      <a:prstDash val="solid"/>
                    </a:lnB>
                    <a:solidFill>
                      <a:srgbClr val="1738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5F5ED"/>
                          </a:solidFill>
                          <a:latin typeface="Arial"/>
                          <a:ea typeface="Arial"/>
                          <a:cs typeface="Arial"/>
                        </a:rPr>
                        <a:t>Responsibility</a:t>
                      </a:r>
                    </a:p>
                  </a:txBody>
                  <a:tcPr marL="171450" marR="171450" marT="133350" marB="133350">
                    <a:lnR w="9525">
                      <a:solidFill>
                        <a:srgbClr val="C9D0C1"/>
                      </a:solidFill>
                      <a:prstDash val="solid"/>
                    </a:lnR>
                    <a:lnT w="9525">
                      <a:solidFill>
                        <a:srgbClr val="C9D0C1"/>
                      </a:solidFill>
                      <a:prstDash val="solid"/>
                    </a:lnT>
                    <a:lnB w="9525">
                      <a:solidFill>
                        <a:srgbClr val="C9D0C1"/>
                      </a:solidFill>
                      <a:prstDash val="solid"/>
                    </a:lnB>
                    <a:solidFill>
                      <a:srgbClr val="17382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382B"/>
                          </a:solidFill>
                          <a:latin typeface="Arial"/>
                          <a:ea typeface="Arial"/>
                          <a:cs typeface="Arial"/>
                        </a:rPr>
                        <a:t>HTML, CSS, JavaScript</a:t>
                      </a:r>
                    </a:p>
                  </a:txBody>
                  <a:tcPr marL="171450" marR="171450" marT="133350" marB="133350">
                    <a:lnL w="9525">
                      <a:solidFill>
                        <a:srgbClr val="C9D0C1"/>
                      </a:solidFill>
                      <a:prstDash val="solid"/>
                    </a:lnL>
                    <a:lnR w="9525">
                      <a:solidFill>
                        <a:srgbClr val="C9D0C1"/>
                      </a:solidFill>
                      <a:prstDash val="solid"/>
                    </a:lnR>
                    <a:lnB w="9525">
                      <a:solidFill>
                        <a:srgbClr val="C9D0C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382B"/>
                          </a:solidFill>
                          <a:latin typeface="Arial"/>
                          <a:ea typeface="Arial"/>
                          <a:cs typeface="Arial"/>
                        </a:rPr>
                        <a:t>Responsive calculator and notebook</a:t>
                      </a:r>
                    </a:p>
                  </a:txBody>
                  <a:tcPr marL="171450" marR="171450" marT="133350" marB="133350">
                    <a:lnR w="9525">
                      <a:solidFill>
                        <a:srgbClr val="C9D0C1"/>
                      </a:solidFill>
                      <a:prstDash val="solid"/>
                    </a:lnR>
                    <a:lnB w="9525">
                      <a:solidFill>
                        <a:srgbClr val="C9D0C1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382B"/>
                          </a:solidFill>
                          <a:latin typeface="Arial"/>
                          <a:ea typeface="Arial"/>
                          <a:cs typeface="Arial"/>
                        </a:rPr>
                        <a:t>Python FastAPI</a:t>
                      </a:r>
                    </a:p>
                  </a:txBody>
                  <a:tcPr marL="171450" marR="171450" marT="133350" marB="133350">
                    <a:lnL w="9525">
                      <a:solidFill>
                        <a:srgbClr val="C9D0C1"/>
                      </a:solidFill>
                      <a:prstDash val="solid"/>
                    </a:lnL>
                    <a:lnR w="9525">
                      <a:solidFill>
                        <a:srgbClr val="C9D0C1"/>
                      </a:solidFill>
                      <a:prstDash val="solid"/>
                    </a:lnR>
                    <a:lnB w="9525">
                      <a:solidFill>
                        <a:srgbClr val="C9D0C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382B"/>
                          </a:solidFill>
                          <a:latin typeface="Arial"/>
                          <a:ea typeface="Arial"/>
                          <a:cs typeface="Arial"/>
                        </a:rPr>
                        <a:t>Evaluate expressions and validate API requests</a:t>
                      </a:r>
                    </a:p>
                  </a:txBody>
                  <a:tcPr marL="171450" marR="171450" marT="133350" marB="133350">
                    <a:lnR w="9525">
                      <a:solidFill>
                        <a:srgbClr val="C9D0C1"/>
                      </a:solidFill>
                      <a:prstDash val="solid"/>
                    </a:lnR>
                    <a:lnB w="9525">
                      <a:solidFill>
                        <a:srgbClr val="C9D0C1"/>
                      </a:solidFill>
                      <a:prstDash val="solid"/>
                    </a:lnB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382B"/>
                          </a:solidFill>
                          <a:latin typeface="Arial"/>
                          <a:ea typeface="Arial"/>
                          <a:cs typeface="Arial"/>
                        </a:rPr>
                        <a:t>PostgreSQL + Alembic</a:t>
                      </a:r>
                    </a:p>
                  </a:txBody>
                  <a:tcPr marL="171450" marR="171450" marT="133350" marB="133350">
                    <a:lnL w="9525">
                      <a:solidFill>
                        <a:srgbClr val="C9D0C1"/>
                      </a:solidFill>
                      <a:prstDash val="solid"/>
                    </a:lnL>
                    <a:lnR w="9525">
                      <a:solidFill>
                        <a:srgbClr val="C9D0C1"/>
                      </a:solidFill>
                      <a:prstDash val="solid"/>
                    </a:lnR>
                    <a:lnB w="9525">
                      <a:solidFill>
                        <a:srgbClr val="C9D0C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7382B"/>
                          </a:solidFill>
                          <a:latin typeface="Arial"/>
                          <a:ea typeface="Arial"/>
                          <a:cs typeface="Arial"/>
                        </a:rPr>
                        <a:t>Persist calculations and manage schema changes</a:t>
                      </a:r>
                    </a:p>
                  </a:txBody>
                  <a:tcPr marL="171450" marR="171450" marT="133350" marB="133350">
                    <a:lnR w="9525">
                      <a:solidFill>
                        <a:srgbClr val="C9D0C1"/>
                      </a:solidFill>
                      <a:prstDash val="solid"/>
                    </a:lnR>
                    <a:lnB w="9525">
                      <a:solidFill>
                        <a:srgbClr val="C9D0C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EST API">
            <a:extLst xmlns:a="http://schemas.openxmlformats.org/drawingml/2006/main">
              <a:ext uri="{FF2B5EF4-FFF2-40B4-BE49-F238E27FC236}">
                <a16:creationId xmlns:a16="http://schemas.microsoft.com/office/drawing/2014/main" id="{C73DC16D-A37B-4F5C-83D3-9187BEDC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REST API</a:t>
            </a:r>
          </a:p>
        </p:txBody>
      </p:sp>
      <p:sp>
        <p:nvSpPr>
          <p:cNvPr id="5" name="GET, POST: /api/calculations&#10;PUT, DELETE: /api/calculat">
            <a:extLst xmlns:a="http://schemas.openxmlformats.org/drawingml/2006/main">
              <a:ext uri="{FF2B5EF4-FFF2-40B4-BE49-F238E27FC236}">
                <a16:creationId xmlns:a16="http://schemas.microsoft.com/office/drawing/2014/main" id="{75EC6CB3-18E6-492E-A1FD-283E9031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82B"/>
                </a:solidFill>
                <a:latin typeface="Arial"/>
                <a:ea typeface="Arial"/>
                <a:cs typeface="Arial"/>
              </a:rPr>
              <a:t>GET, POST: /api/calculations</a:t>
            </a:r>
          </a:p>
          <a:p xmlns:a="http://schemas.openxmlformats.org/drawingml/2006/main">
            <a:pPr>
              <a:buNone/>
              <a:defRPr sz="195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82B"/>
                </a:solidFill>
                <a:latin typeface="Arial"/>
                <a:ea typeface="Arial"/>
                <a:cs typeface="Arial"/>
              </a:rPr>
              <a:t>PUT, DELETE: /api/calculations/{id}</a:t>
            </a:r>
          </a:p>
        </p:txBody>
      </p:sp>
      <p:sp>
        <p:nvSpPr>
          <p:cNvPr id="6" name="Health: /health     Readiness: /ready     Metrics: /met">
            <a:extLst xmlns:a="http://schemas.openxmlformats.org/drawingml/2006/main">
              <a:ext uri="{FF2B5EF4-FFF2-40B4-BE49-F238E27FC236}">
                <a16:creationId xmlns:a16="http://schemas.microsoft.com/office/drawing/2014/main" id="{40378B8E-EB10-4F3A-BE10-6C705717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Health: /health     Readiness: /ready     Metrics: /metrics</a:t>
            </a:r>
          </a:p>
        </p:txBody>
      </p:sp>
    </p:spTree>
    <p:extLst>
      <p:ext uri="{BB962C8B-B14F-4D97-AF65-F5344CB8AC3E}">
        <p14:creationId xmlns:p14="http://schemas.microsoft.com/office/powerpoint/2010/main" val="8494661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sts and code quality">
            <a:extLst xmlns:a="http://schemas.openxmlformats.org/drawingml/2006/main">
              <a:ext uri="{FF2B5EF4-FFF2-40B4-BE49-F238E27FC236}">
                <a16:creationId xmlns:a16="http://schemas.microsoft.com/office/drawing/2014/main" id="{0B25E007-402F-4944-B8F0-B8DFD09D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Tests and code quality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76818297-0039-49FF-9427-6BE649DD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69 tests passed">
            <a:extLst xmlns:a="http://schemas.openxmlformats.org/drawingml/2006/main">
              <a:ext uri="{FF2B5EF4-FFF2-40B4-BE49-F238E27FC236}">
                <a16:creationId xmlns:a16="http://schemas.microsoft.com/office/drawing/2014/main" id="{036E41F2-A2BA-4092-8A4E-92729A8B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48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496D37"/>
                </a:solidFill>
                <a:latin typeface="Arial"/>
                <a:ea typeface="Arial"/>
                <a:cs typeface="Arial"/>
              </a:rPr>
              <a:t>69 tests passed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B277D-CFC0-4D5A-84DC-A3C54F2248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9b5e08be874972"/>
          <a:stretch xmlns:a="http://schemas.openxmlformats.org/drawingml/2006/main"/>
        </p:blipFill>
        <p:spPr>
          <a:xfrm xmlns:a="http://schemas.openxmlformats.org/drawingml/2006/main">
            <a:off x="609600" y="2525078"/>
            <a:ext cx="10972800" cy="2560320"/>
          </a:xfrm>
          <a:prstGeom xmlns:a="http://schemas.openxmlformats.org/drawingml/2006/main" prst="rect">
            <a:avLst/>
          </a:prstGeom>
        </p:spPr>
      </p:pic>
      <p:sp>
        <p:nvSpPr>
          <p:cNvPr id="5" name="Isolated SQLite locally and disposable PostgreSQL in CI">
            <a:extLst xmlns:a="http://schemas.openxmlformats.org/drawingml/2006/main">
              <a:ext uri="{FF2B5EF4-FFF2-40B4-BE49-F238E27FC236}">
                <a16:creationId xmlns:a16="http://schemas.microsoft.com/office/drawing/2014/main" id="{8BB815E6-2A53-4B4F-B885-4ADDC125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82B"/>
                </a:solidFill>
                <a:latin typeface="Arial"/>
                <a:ea typeface="Arial"/>
                <a:cs typeface="Arial"/>
              </a:rPr>
              <a:t>Isolated SQLite locally and disposable PostgreSQL in CI</a:t>
            </a:r>
          </a:p>
        </p:txBody>
      </p:sp>
      <p:sp>
        <p:nvSpPr>
          <p:cNvPr id="6" name="Four frontend tests, a production build and Ruff checks">
            <a:extLst xmlns:a="http://schemas.openxmlformats.org/drawingml/2006/main">
              <a:ext uri="{FF2B5EF4-FFF2-40B4-BE49-F238E27FC236}">
                <a16:creationId xmlns:a16="http://schemas.microsoft.com/office/drawing/2014/main" id="{F67FA34C-5DBC-4CB5-ABA3-585170A8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Four frontend tests, a production build and Ruff checks also pass</a:t>
            </a:r>
          </a:p>
        </p:txBody>
      </p:sp>
    </p:spTree>
    <p:extLst>
      <p:ext uri="{BB962C8B-B14F-4D97-AF65-F5344CB8AC3E}">
        <p14:creationId xmlns:p14="http://schemas.microsoft.com/office/powerpoint/2010/main" val="2632587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Docker and local development">
            <a:extLst xmlns:a="http://schemas.openxmlformats.org/drawingml/2006/main">
              <a:ext uri="{FF2B5EF4-FFF2-40B4-BE49-F238E27FC236}">
                <a16:creationId xmlns:a16="http://schemas.microsoft.com/office/drawing/2014/main" id="{E746B524-4A5A-4E88-AAAE-8D3F23D5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Docker and local development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94E7DD73-B6C8-4A0B-86DB-D6B9C45C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A6CF9-1444-44B9-AE15-463D643DC0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a99601dc544c0"/>
          <a:stretch xmlns:a="http://schemas.openxmlformats.org/drawingml/2006/main"/>
        </p:blipFill>
        <p:spPr>
          <a:xfrm xmlns:a="http://schemas.openxmlformats.org/drawingml/2006/main">
            <a:off x="609600" y="1524953"/>
            <a:ext cx="10972800" cy="2560320"/>
          </a:xfrm>
          <a:prstGeom xmlns:a="http://schemas.openxmlformats.org/drawingml/2006/main" prst="rect">
            <a:avLst/>
          </a:prstGeom>
        </p:spPr>
      </p:pic>
      <p:sp>
        <p:nvSpPr>
          <p:cNvPr id="4" name="Three healthy services">
            <a:extLst xmlns:a="http://schemas.openxmlformats.org/drawingml/2006/main">
              <a:ext uri="{FF2B5EF4-FFF2-40B4-BE49-F238E27FC236}">
                <a16:creationId xmlns:a16="http://schemas.microsoft.com/office/drawing/2014/main" id="{E8C8B020-39E5-4AF8-B193-BA439754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Three healthy services</a:t>
            </a:r>
          </a:p>
        </p:txBody>
      </p:sp>
      <p:sp>
        <p:nvSpPr>
          <p:cNvPr id="5" name="Frontend, backend and PostgreSQL">
            <a:extLst xmlns:a="http://schemas.openxmlformats.org/drawingml/2006/main">
              <a:ext uri="{FF2B5EF4-FFF2-40B4-BE49-F238E27FC236}">
                <a16:creationId xmlns:a16="http://schemas.microsoft.com/office/drawing/2014/main" id="{55E1F565-CBB1-4F03-B4EF-043B7EA3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Frontend, backend and PostgreSQL</a:t>
            </a:r>
          </a:p>
        </p:txBody>
      </p:sp>
      <p:sp>
        <p:nvSpPr>
          <p:cNvPr id="6" name="Non-root application images">
            <a:extLst xmlns:a="http://schemas.openxmlformats.org/drawingml/2006/main">
              <a:ext uri="{FF2B5EF4-FFF2-40B4-BE49-F238E27FC236}">
                <a16:creationId xmlns:a16="http://schemas.microsoft.com/office/drawing/2014/main" id="{A25FC177-7AF0-4DF5-83CF-E433C48E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48175"/>
            <a:ext cx="529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Non-root application images</a:t>
            </a:r>
          </a:p>
        </p:txBody>
      </p:sp>
      <p:sp>
        <p:nvSpPr>
          <p:cNvPr id="7" name="Backend UID 10001, frontend UID 101&#10;Node build and Ngin">
            <a:extLst xmlns:a="http://schemas.openxmlformats.org/drawingml/2006/main">
              <a:ext uri="{FF2B5EF4-FFF2-40B4-BE49-F238E27FC236}">
                <a16:creationId xmlns:a16="http://schemas.microsoft.com/office/drawing/2014/main" id="{BCC1923F-36C0-447F-8318-BF89ADEA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72050"/>
            <a:ext cx="5295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Backend UID 10001, frontend UID 101</a:t>
            </a:r>
          </a:p>
          <a:p xmlns:a="http://schemas.openxmlformats.org/drawingml/2006/main">
            <a: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Node build and Nginx runtime stages</a:t>
            </a:r>
          </a:p>
        </p:txBody>
      </p:sp>
    </p:spTree>
    <p:extLst>
      <p:ext uri="{BB962C8B-B14F-4D97-AF65-F5344CB8AC3E}">
        <p14:creationId xmlns:p14="http://schemas.microsoft.com/office/powerpoint/2010/main" val="18594891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itHub Actions and GHCR">
            <a:extLst xmlns:a="http://schemas.openxmlformats.org/drawingml/2006/main">
              <a:ext uri="{FF2B5EF4-FFF2-40B4-BE49-F238E27FC236}">
                <a16:creationId xmlns:a16="http://schemas.microsoft.com/office/drawing/2014/main" id="{14A3594F-E1DC-4076-BFD0-C7BC17B3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GitHub Actions and GHCR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E39B4449-D315-4348-8FB6-E79433B3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Version control">
            <a:extLst xmlns:a="http://schemas.openxmlformats.org/drawingml/2006/main">
              <a:ext uri="{FF2B5EF4-FFF2-40B4-BE49-F238E27FC236}">
                <a16:creationId xmlns:a16="http://schemas.microsoft.com/office/drawing/2014/main" id="{EC036092-3F88-4AAE-BA23-BA310CB0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Version control</a:t>
            </a:r>
          </a:p>
        </p:txBody>
      </p:sp>
      <p:sp>
        <p:nvSpPr>
          <p:cNvPr id="4" name="Public repository and meaningful commit history">
            <a:extLst xmlns:a="http://schemas.openxmlformats.org/drawingml/2006/main">
              <a:ext uri="{FF2B5EF4-FFF2-40B4-BE49-F238E27FC236}">
                <a16:creationId xmlns:a16="http://schemas.microsoft.com/office/drawing/2014/main" id="{3CA17D8D-6EAB-477E-904C-4298A70D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Public repository and meaningful commit history</a:t>
            </a:r>
          </a:p>
        </p:txBody>
      </p:sp>
      <p:sp>
        <p:nvSpPr>
          <p:cNvPr id="5" name="Quality gates">
            <a:extLst xmlns:a="http://schemas.openxmlformats.org/drawingml/2006/main">
              <a:ext uri="{FF2B5EF4-FFF2-40B4-BE49-F238E27FC236}">
                <a16:creationId xmlns:a16="http://schemas.microsoft.com/office/drawing/2014/main" id="{681675F2-1E69-4319-A2C1-8F40A66C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Quality gates</a:t>
            </a:r>
          </a:p>
        </p:txBody>
      </p:sp>
      <p:sp>
        <p:nvSpPr>
          <p:cNvPr id="6" name="Tests and both Trivy image scans precede publishing">
            <a:extLst xmlns:a="http://schemas.openxmlformats.org/drawingml/2006/main">
              <a:ext uri="{FF2B5EF4-FFF2-40B4-BE49-F238E27FC236}">
                <a16:creationId xmlns:a16="http://schemas.microsoft.com/office/drawing/2014/main" id="{79ECAAB9-2058-408F-8E5F-7C9FB5ED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Tests and both Trivy image scans precede publishing</a:t>
            </a:r>
          </a:p>
        </p:txBody>
      </p:sp>
      <p:sp>
        <p:nvSpPr>
          <p:cNvPr id="7" name="Image publication">
            <a:extLst xmlns:a="http://schemas.openxmlformats.org/drawingml/2006/main">
              <a:ext uri="{FF2B5EF4-FFF2-40B4-BE49-F238E27FC236}">
                <a16:creationId xmlns:a16="http://schemas.microsoft.com/office/drawing/2014/main" id="{9C36ABDA-DDCE-4515-B938-E68DCEB3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Image publication</a:t>
            </a:r>
          </a:p>
        </p:txBody>
      </p:sp>
      <p:sp>
        <p:nvSpPr>
          <p:cNvPr id="8" name="Exact scanned images use full commit SHA tags">
            <a:extLst xmlns:a="http://schemas.openxmlformats.org/drawingml/2006/main">
              <a:ext uri="{FF2B5EF4-FFF2-40B4-BE49-F238E27FC236}">
                <a16:creationId xmlns:a16="http://schemas.microsoft.com/office/drawing/2014/main" id="{A48D9EEF-F87C-428C-9F42-ED358903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Exact scanned images use full commit SHA tags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2B7D0-C780-4E7A-8876-1F34B34FD9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87807ce7a44a0b"/>
          <a:stretch xmlns:a="http://schemas.openxmlformats.org/drawingml/2006/main"/>
        </p:blipFill>
        <p:spPr>
          <a:xfrm xmlns:a="http://schemas.openxmlformats.org/drawingml/2006/main">
            <a:off x="4267200" y="1371600"/>
            <a:ext cx="7315200" cy="4572000"/>
          </a:xfrm>
          <a:prstGeom xmlns:a="http://schemas.openxmlformats.org/drawingml/2006/main" prst="rect">
            <a:avLst/>
          </a:prstGeom>
        </p:spPr>
      </p:pic>
      <p:sp>
        <p:nvSpPr>
          <p:cNvPr id="10" name="CI result: green. Automatic EKS job: skipped.">
            <a:extLst xmlns:a="http://schemas.openxmlformats.org/drawingml/2006/main">
              <a:ext uri="{FF2B5EF4-FFF2-40B4-BE49-F238E27FC236}">
                <a16:creationId xmlns:a16="http://schemas.microsoft.com/office/drawing/2014/main" id="{04D403F6-1DAA-47F2-9CF5-719FC9FE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48375"/>
            <a:ext cx="731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CI result: green. Automatic EKS job: skipped.</a:t>
            </a:r>
          </a:p>
        </p:txBody>
      </p:sp>
    </p:spTree>
    <p:extLst>
      <p:ext uri="{BB962C8B-B14F-4D97-AF65-F5344CB8AC3E}">
        <p14:creationId xmlns:p14="http://schemas.microsoft.com/office/powerpoint/2010/main" val="2605314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rivy security gate">
            <a:extLst xmlns:a="http://schemas.openxmlformats.org/drawingml/2006/main">
              <a:ext uri="{FF2B5EF4-FFF2-40B4-BE49-F238E27FC236}">
                <a16:creationId xmlns:a16="http://schemas.microsoft.com/office/drawing/2014/main" id="{FBDEA9EC-2C6B-4202-BC08-01BC5CF7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Trivy security gate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BBA429AE-3264-4780-80A5-02023D60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0 HIGH or CRITICAL findings">
            <a:extLst xmlns:a="http://schemas.openxmlformats.org/drawingml/2006/main">
              <a:ext uri="{FF2B5EF4-FFF2-40B4-BE49-F238E27FC236}">
                <a16:creationId xmlns:a16="http://schemas.microsoft.com/office/drawing/2014/main" id="{9DC65AA7-5892-44A8-B17C-2B8E8C50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496D37"/>
                </a:solidFill>
                <a:latin typeface="Arial"/>
                <a:ea typeface="Arial"/>
                <a:cs typeface="Arial"/>
              </a:rPr>
              <a:t>0 HIGH or CRITICAL findings</a:t>
            </a:r>
          </a:p>
        </p:txBody>
      </p:sp>
      <p:sp>
        <p:nvSpPr>
          <p:cNvPr id="4" name="Both remediated images pass the same strict gate">
            <a:extLst xmlns:a="http://schemas.openxmlformats.org/drawingml/2006/main">
              <a:ext uri="{FF2B5EF4-FFF2-40B4-BE49-F238E27FC236}">
                <a16:creationId xmlns:a16="http://schemas.microsoft.com/office/drawing/2014/main" id="{4A92FF65-430B-4C77-873F-0380A1C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82B"/>
                </a:solidFill>
                <a:latin typeface="Arial"/>
                <a:ea typeface="Arial"/>
                <a:cs typeface="Arial"/>
              </a:rPr>
              <a:t>Both remediated images pass the same strict gate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8EA72-015F-4250-A8F1-4F283C4EB1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e36d5d74a345a7"/>
          <a:stretch xmlns:a="http://schemas.openxmlformats.org/drawingml/2006/main"/>
        </p:blipFill>
        <p:spPr>
          <a:xfrm xmlns:a="http://schemas.openxmlformats.org/drawingml/2006/main">
            <a:off x="1699846" y="3028950"/>
            <a:ext cx="8792308" cy="2667000"/>
          </a:xfrm>
          <a:prstGeom xmlns:a="http://schemas.openxmlformats.org/drawingml/2006/main" prst="rect">
            <a:avLst/>
          </a:prstGeom>
        </p:spPr>
      </p:pic>
      <p:sp>
        <p:nvSpPr>
          <p:cNvPr id="6" name="HIGH and CRITICAL findings fail CI, including unfixed v">
            <a:extLst xmlns:a="http://schemas.openxmlformats.org/drawingml/2006/main">
              <a:ext uri="{FF2B5EF4-FFF2-40B4-BE49-F238E27FC236}">
                <a16:creationId xmlns:a16="http://schemas.microsoft.com/office/drawing/2014/main" id="{9BFB3130-CB37-45F1-A9C8-168DA758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HIGH and CRITICAL findings fail CI, including unfixed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5589873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rraform and AWS EKS">
            <a:extLst xmlns:a="http://schemas.openxmlformats.org/drawingml/2006/main">
              <a:ext uri="{FF2B5EF4-FFF2-40B4-BE49-F238E27FC236}">
                <a16:creationId xmlns:a16="http://schemas.microsoft.com/office/drawing/2014/main" id="{15F9D4D2-DFEC-4099-A7B5-5A83CF4D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Terraform and AWS EKS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8A841D00-AC9C-44A1-8A12-BA7F07D5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20">
            <a:extLst xmlns:a="http://schemas.openxmlformats.org/drawingml/2006/main">
              <a:ext uri="{FF2B5EF4-FFF2-40B4-BE49-F238E27FC236}">
                <a16:creationId xmlns:a16="http://schemas.microsoft.com/office/drawing/2014/main" id="{D2CE4FEB-E85F-4696-8105-D011934D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323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70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pPr>
            <a:r>
              <a:rPr sz="7050" b="1">
                <a:solidFill>
                  <a:srgbClr val="496D37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resources provisioned">
            <a:extLst xmlns:a="http://schemas.openxmlformats.org/drawingml/2006/main">
              <a:ext uri="{FF2B5EF4-FFF2-40B4-BE49-F238E27FC236}">
                <a16:creationId xmlns:a16="http://schemas.microsoft.com/office/drawing/2014/main" id="{F7A245EE-B5B1-4717-BAA0-74983FFCA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382B"/>
                </a:solidFill>
                <a:latin typeface="Arial"/>
                <a:ea typeface="Arial"/>
                <a:cs typeface="Arial"/>
              </a:rPr>
              <a:t>resources provisioned</a:t>
            </a:r>
          </a:p>
        </p:txBody>
      </p:sp>
      <p:sp>
        <p:nvSpPr>
          <p:cNvPr id="5" name="Mumbai: ap-south-1&#10;&#10;VPC and two public subnets&#10;&#10;EKS wit">
            <a:extLst xmlns:a="http://schemas.openxmlformats.org/drawingml/2006/main">
              <a:ext uri="{FF2B5EF4-FFF2-40B4-BE49-F238E27FC236}">
                <a16:creationId xmlns:a16="http://schemas.microsoft.com/office/drawing/2014/main" id="{A0D45D4A-0531-48D9-882F-720FBCD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Mumbai: ap-south-1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VPC and two public subnets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EKS with two Ready workers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24D8B-B817-4DFE-B94A-25500D5B58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f4723ced64bba"/>
          <a:stretch xmlns:a="http://schemas.openxmlformats.org/drawingml/2006/main"/>
        </p:blipFill>
        <p:spPr>
          <a:xfrm xmlns:a="http://schemas.openxmlformats.org/drawingml/2006/main">
            <a:off x="4391891" y="1371600"/>
            <a:ext cx="7065818" cy="4857750"/>
          </a:xfrm>
          <a:prstGeom xmlns:a="http://schemas.openxmlformats.org/drawingml/2006/main" prst="rect">
            <a:avLst/>
          </a:prstGeom>
        </p:spPr>
      </p:pic>
      <p:sp>
        <p:nvSpPr>
          <p:cNvPr id="7" name="Actual AWS capture before Terraform destroy">
            <a:extLst xmlns:a="http://schemas.openxmlformats.org/drawingml/2006/main">
              <a:ext uri="{FF2B5EF4-FFF2-40B4-BE49-F238E27FC236}">
                <a16:creationId xmlns:a16="http://schemas.microsoft.com/office/drawing/2014/main" id="{02CDDDB4-B125-477D-A70B-B9058786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33412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Actual AWS capture before Terraform destroy</a:t>
            </a:r>
          </a:p>
        </p:txBody>
      </p:sp>
    </p:spTree>
    <p:extLst>
      <p:ext uri="{BB962C8B-B14F-4D97-AF65-F5344CB8AC3E}">
        <p14:creationId xmlns:p14="http://schemas.microsoft.com/office/powerpoint/2010/main" val="17040306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Kubernetes and Helm on EKS">
            <a:extLst xmlns:a="http://schemas.openxmlformats.org/drawingml/2006/main">
              <a:ext uri="{FF2B5EF4-FFF2-40B4-BE49-F238E27FC236}">
                <a16:creationId xmlns:a16="http://schemas.microsoft.com/office/drawing/2014/main" id="{1D5BBA57-4945-4B32-9808-00091015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Kubernetes and Helm on EKS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559A9329-2A3F-4AF9-9D0C-90110F4B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1395AE-CB65-4985-9362-887CBCD2D9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2c1925ea24443"/>
          <a:stretch xmlns:a="http://schemas.openxmlformats.org/drawingml/2006/main"/>
        </p:blipFill>
        <p:spPr>
          <a:xfrm xmlns:a="http://schemas.openxmlformats.org/drawingml/2006/main">
            <a:off x="609600" y="1429893"/>
            <a:ext cx="10972800" cy="3712464"/>
          </a:xfrm>
          <a:prstGeom xmlns:a="http://schemas.openxmlformats.org/drawingml/2006/main" prst="rect">
            <a:avLst/>
          </a:prstGeom>
        </p:spPr>
      </p:pic>
      <p:sp>
        <p:nvSpPr>
          <p:cNvPr id="4" name="2 backend replicas">
            <a:extLst xmlns:a="http://schemas.openxmlformats.org/drawingml/2006/main">
              <a:ext uri="{FF2B5EF4-FFF2-40B4-BE49-F238E27FC236}">
                <a16:creationId xmlns:a16="http://schemas.microsoft.com/office/drawing/2014/main" id="{FBC492C1-8503-430B-84C6-87C5AE47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2 backend replicas</a:t>
            </a:r>
          </a:p>
        </p:txBody>
      </p:sp>
      <p:sp>
        <p:nvSpPr>
          <p:cNvPr id="5" name="2 frontend replicas">
            <a:extLst xmlns:a="http://schemas.openxmlformats.org/drawingml/2006/main">
              <a:ext uri="{FF2B5EF4-FFF2-40B4-BE49-F238E27FC236}">
                <a16:creationId xmlns:a16="http://schemas.microsoft.com/office/drawing/2014/main" id="{76A3C814-C84F-4063-8C23-1451206A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3816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2 frontend replicas</a:t>
            </a:r>
          </a:p>
        </p:txBody>
      </p:sp>
      <p:sp>
        <p:nvSpPr>
          <p:cNvPr id="6" name="PostgreSQL storage">
            <a:extLst xmlns:a="http://schemas.openxmlformats.org/drawingml/2006/main">
              <a:ext uri="{FF2B5EF4-FFF2-40B4-BE49-F238E27FC236}">
                <a16:creationId xmlns:a16="http://schemas.microsoft.com/office/drawing/2014/main" id="{3BF4BE3C-7507-4CAE-A802-893179EB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81625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PostgreSQL storage</a:t>
            </a:r>
          </a:p>
        </p:txBody>
      </p:sp>
      <p:sp>
        <p:nvSpPr>
          <p:cNvPr id="7" name="ClusterIP Services and Ingress routes for / and /api">
            <a:extLst xmlns:a="http://schemas.openxmlformats.org/drawingml/2006/main">
              <a:ext uri="{FF2B5EF4-FFF2-40B4-BE49-F238E27FC236}">
                <a16:creationId xmlns:a16="http://schemas.microsoft.com/office/drawing/2014/main" id="{BB2B9B21-CF85-45D5-B41C-1843CCB4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ClusterIP Services and Ingress routes for / and /api</a:t>
            </a:r>
          </a:p>
        </p:txBody>
      </p:sp>
    </p:spTree>
    <p:extLst>
      <p:ext uri="{BB962C8B-B14F-4D97-AF65-F5344CB8AC3E}">
        <p14:creationId xmlns:p14="http://schemas.microsoft.com/office/powerpoint/2010/main" val="17649595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rometheus and Grafana">
            <a:extLst xmlns:a="http://schemas.openxmlformats.org/drawingml/2006/main">
              <a:ext uri="{FF2B5EF4-FFF2-40B4-BE49-F238E27FC236}">
                <a16:creationId xmlns:a16="http://schemas.microsoft.com/office/drawing/2014/main" id="{721E4175-3331-4EA0-8387-D33251D0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Prometheus and Grafana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FF60F4EA-C5C0-4571-B505-B9C40468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Application metrics">
            <a:extLst xmlns:a="http://schemas.openxmlformats.org/drawingml/2006/main">
              <a:ext uri="{FF2B5EF4-FFF2-40B4-BE49-F238E27FC236}">
                <a16:creationId xmlns:a16="http://schemas.microsoft.com/office/drawing/2014/main" id="{81282B5E-39CE-4AE7-BF4D-C2439C87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Application metrics</a:t>
            </a:r>
          </a:p>
        </p:txBody>
      </p:sp>
      <p:sp>
        <p:nvSpPr>
          <p:cNvPr id="4" name="FastAPI exposes request and latency measurements">
            <a:extLst xmlns:a="http://schemas.openxmlformats.org/drawingml/2006/main">
              <a:ext uri="{FF2B5EF4-FFF2-40B4-BE49-F238E27FC236}">
                <a16:creationId xmlns:a16="http://schemas.microsoft.com/office/drawing/2014/main" id="{13599C01-6CEC-4B8D-B023-8CD3B3CC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FastAPI exposes request and latency measurements</a:t>
            </a:r>
          </a:p>
        </p:txBody>
      </p:sp>
      <p:sp>
        <p:nvSpPr>
          <p:cNvPr id="5" name="Prometheus">
            <a:extLst xmlns:a="http://schemas.openxmlformats.org/drawingml/2006/main">
              <a:ext uri="{FF2B5EF4-FFF2-40B4-BE49-F238E27FC236}">
                <a16:creationId xmlns:a16="http://schemas.microsoft.com/office/drawing/2014/main" id="{8D0102A9-7196-4C30-82ED-E65C39C0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Prometheus</a:t>
            </a:r>
          </a:p>
        </p:txBody>
      </p:sp>
      <p:sp>
        <p:nvSpPr>
          <p:cNvPr id="6" name="Both backend targets report UP">
            <a:extLst xmlns:a="http://schemas.openxmlformats.org/drawingml/2006/main">
              <a:ext uri="{FF2B5EF4-FFF2-40B4-BE49-F238E27FC236}">
                <a16:creationId xmlns:a16="http://schemas.microsoft.com/office/drawing/2014/main" id="{D2200B0E-9239-4281-8EC9-F022AF10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Both backend targets report UP</a:t>
            </a:r>
          </a:p>
        </p:txBody>
      </p:sp>
      <p:sp>
        <p:nvSpPr>
          <p:cNvPr id="7" name="Grafana">
            <a:extLst xmlns:a="http://schemas.openxmlformats.org/drawingml/2006/main">
              <a:ext uri="{FF2B5EF4-FFF2-40B4-BE49-F238E27FC236}">
                <a16:creationId xmlns:a16="http://schemas.microsoft.com/office/drawing/2014/main" id="{8560392E-B0BA-44CA-A0C2-15D6F9E3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Grafana</a:t>
            </a:r>
          </a:p>
        </p:txBody>
      </p:sp>
      <p:sp>
        <p:nvSpPr>
          <p:cNvPr id="8" name="Request and latency panels show data">
            <a:extLst xmlns:a="http://schemas.openxmlformats.org/drawingml/2006/main">
              <a:ext uri="{FF2B5EF4-FFF2-40B4-BE49-F238E27FC236}">
                <a16:creationId xmlns:a16="http://schemas.microsoft.com/office/drawing/2014/main" id="{44D30DCA-1FFF-4F11-B2C1-FC12F19E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Request and latency panels show data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54A37-2A64-4E1C-8475-19421690B1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21eb0551f44a8"/>
          <a:stretch xmlns:a="http://schemas.openxmlformats.org/drawingml/2006/main"/>
        </p:blipFill>
        <p:spPr>
          <a:xfrm xmlns:a="http://schemas.openxmlformats.org/drawingml/2006/main">
            <a:off x="4511675" y="1352550"/>
            <a:ext cx="6654800" cy="4991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580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corded deployment update">
            <a:extLst xmlns:a="http://schemas.openxmlformats.org/drawingml/2006/main">
              <a:ext uri="{FF2B5EF4-FFF2-40B4-BE49-F238E27FC236}">
                <a16:creationId xmlns:a16="http://schemas.microsoft.com/office/drawing/2014/main" id="{BD1D1C7B-0E4F-4E06-8912-2710D7FE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Recorded deployment update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21E17956-CC75-486E-AE04-8B58A0B9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Successful pipeline">
            <a:extLst xmlns:a="http://schemas.openxmlformats.org/drawingml/2006/main">
              <a:ext uri="{FF2B5EF4-FFF2-40B4-BE49-F238E27FC236}">
                <a16:creationId xmlns:a16="http://schemas.microsoft.com/office/drawing/2014/main" id="{FAB28EF5-FEC8-4332-B4CE-31A7000E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Successful pipeline</a:t>
            </a:r>
          </a:p>
        </p:txBody>
      </p:sp>
      <p:sp>
        <p:nvSpPr>
          <p:cNvPr id="4" name="Run 38947611595 publishes the scanned SHA">
            <a:extLst xmlns:a="http://schemas.openxmlformats.org/drawingml/2006/main">
              <a:ext uri="{FF2B5EF4-FFF2-40B4-BE49-F238E27FC236}">
                <a16:creationId xmlns:a16="http://schemas.microsoft.com/office/drawing/2014/main" id="{45E08C23-34CA-4EB0-89D0-BA967881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Run 38947611595 publishes the scanned SHA</a:t>
            </a:r>
          </a:p>
        </p:txBody>
      </p:sp>
      <p:sp>
        <p:nvSpPr>
          <p:cNvPr id="5" name="Local Helm upgrade">
            <a:extLst xmlns:a="http://schemas.openxmlformats.org/drawingml/2006/main">
              <a:ext uri="{FF2B5EF4-FFF2-40B4-BE49-F238E27FC236}">
                <a16:creationId xmlns:a16="http://schemas.microsoft.com/office/drawing/2014/main" id="{60696C4A-F69C-46DC-A5FC-40EBA7FF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Local Helm upgrade</a:t>
            </a:r>
          </a:p>
        </p:txBody>
      </p:sp>
      <p:sp>
        <p:nvSpPr>
          <p:cNvPr id="6" name="EKS health reports commit 7f36caf">
            <a:extLst xmlns:a="http://schemas.openxmlformats.org/drawingml/2006/main">
              <a:ext uri="{FF2B5EF4-FFF2-40B4-BE49-F238E27FC236}">
                <a16:creationId xmlns:a16="http://schemas.microsoft.com/office/drawing/2014/main" id="{7085F9A8-70C8-4B52-A615-3CA7DBE4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EKS health reports commit 7f36caf</a:t>
            </a:r>
          </a:p>
        </p:txBody>
      </p:sp>
      <p:sp>
        <p:nvSpPr>
          <p:cNvPr id="7" name="Persistent notebook">
            <a:extLst xmlns:a="http://schemas.openxmlformats.org/drawingml/2006/main">
              <a:ext uri="{FF2B5EF4-FFF2-40B4-BE49-F238E27FC236}">
                <a16:creationId xmlns:a16="http://schemas.microsoft.com/office/drawing/2014/main" id="{1648FCEC-8A9F-44CF-8C35-3B7D6D33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Persistent notebook</a:t>
            </a:r>
          </a:p>
        </p:txBody>
      </p:sp>
      <p:sp>
        <p:nvSpPr>
          <p:cNvPr id="8" name="Calculations survive pod replacement">
            <a:extLst xmlns:a="http://schemas.openxmlformats.org/drawingml/2006/main">
              <a:ext uri="{FF2B5EF4-FFF2-40B4-BE49-F238E27FC236}">
                <a16:creationId xmlns:a16="http://schemas.microsoft.com/office/drawing/2014/main" id="{A31F78C0-A050-4CC1-9047-76BA57E2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Calculations survive pod replacement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2A63C-BBAA-4155-8539-B1E5DD0A2C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3942fe7e04bbd"/>
          <a:stretch xmlns:a="http://schemas.openxmlformats.org/drawingml/2006/main"/>
        </p:blipFill>
        <p:spPr>
          <a:xfrm xmlns:a="http://schemas.openxmlformats.org/drawingml/2006/main">
            <a:off x="4864800" y="1314450"/>
            <a:ext cx="6120000" cy="4857750"/>
          </a:xfrm>
          <a:prstGeom xmlns:a="http://schemas.openxmlformats.org/drawingml/2006/main" prst="rect">
            <a:avLst/>
          </a:prstGeom>
        </p:spPr>
      </p:pic>
      <p:sp>
        <p:nvSpPr>
          <p:cNvPr id="10" name="Local Helm delivery after green CI">
            <a:extLst xmlns:a="http://schemas.openxmlformats.org/drawingml/2006/main">
              <a:ext uri="{FF2B5EF4-FFF2-40B4-BE49-F238E27FC236}">
                <a16:creationId xmlns:a16="http://schemas.microsoft.com/office/drawing/2014/main" id="{F8BDBC87-64D9-45EF-8C90-7CAC8E13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334125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Local Helm delivery after green CI</a:t>
            </a:r>
          </a:p>
        </p:txBody>
      </p:sp>
    </p:spTree>
    <p:extLst>
      <p:ext uri="{BB962C8B-B14F-4D97-AF65-F5344CB8AC3E}">
        <p14:creationId xmlns:p14="http://schemas.microsoft.com/office/powerpoint/2010/main" val="15986791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eanup and submission">
            <a:extLst xmlns:a="http://schemas.openxmlformats.org/drawingml/2006/main">
              <a:ext uri="{FF2B5EF4-FFF2-40B4-BE49-F238E27FC236}">
                <a16:creationId xmlns:a16="http://schemas.microsoft.com/office/drawing/2014/main" id="{FC285490-9B7D-4348-BFEF-98DBFAD9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Cleanup and submission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AF5270BE-83AA-4707-8992-6A3C69B5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341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6D621-8F8F-461A-A710-6DCC864A4D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0130632e324551"/>
          <a:stretch xmlns:a="http://schemas.openxmlformats.org/drawingml/2006/main"/>
        </p:blipFill>
        <p:spPr>
          <a:xfrm xmlns:a="http://schemas.openxmlformats.org/drawingml/2006/main">
            <a:off x="609600" y="1478340"/>
            <a:ext cx="6715125" cy="4034671"/>
          </a:xfrm>
          <a:prstGeom xmlns:a="http://schemas.openxmlformats.org/drawingml/2006/main" prst="rect">
            <a:avLst/>
          </a:prstGeom>
        </p:spPr>
      </p:pic>
      <p:sp>
        <p:nvSpPr>
          <p:cNvPr id="4" name="Cloud teardown complete">
            <a:extLst xmlns:a="http://schemas.openxmlformats.org/drawingml/2006/main">
              <a:ext uri="{FF2B5EF4-FFF2-40B4-BE49-F238E27FC236}">
                <a16:creationId xmlns:a16="http://schemas.microsoft.com/office/drawing/2014/main" id="{1981E7AA-1DD4-4063-AC35-E0D020FB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52575"/>
            <a:ext cx="377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738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382B"/>
                </a:solidFill>
                <a:latin typeface="Arial"/>
                <a:ea typeface="Arial"/>
                <a:cs typeface="Arial"/>
              </a:rPr>
              <a:t>Cloud teardown complete</a:t>
            </a:r>
          </a:p>
        </p:txBody>
      </p:sp>
      <p:sp>
        <p:nvSpPr>
          <p:cNvPr id="5" name="Independent audit confirms no project EKS, VPC, active ">
            <a:extLst xmlns:a="http://schemas.openxmlformats.org/drawingml/2006/main">
              <a:ext uri="{FF2B5EF4-FFF2-40B4-BE49-F238E27FC236}">
                <a16:creationId xmlns:a16="http://schemas.microsoft.com/office/drawing/2014/main" id="{848774D4-8566-435C-AA93-9B429D3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05075"/>
            <a:ext cx="3771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Independent audit confirms no project EKS, VPC, active workers or volumes remain.</a:t>
            </a:r>
          </a:p>
        </p:txBody>
      </p:sp>
      <p:sp>
        <p:nvSpPr>
          <p:cNvPr id="6" name="Source, 75 screenshots, the video and this deck remain ">
            <a:extLst xmlns:a="http://schemas.openxmlformats.org/drawingml/2006/main">
              <a:ext uri="{FF2B5EF4-FFF2-40B4-BE49-F238E27FC236}">
                <a16:creationId xmlns:a16="http://schemas.microsoft.com/office/drawing/2014/main" id="{530FD490-3E20-49CA-B67F-DB297A54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38625"/>
            <a:ext cx="3771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4645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46455"/>
                </a:solidFill>
                <a:latin typeface="Arial"/>
                <a:ea typeface="Arial"/>
                <a:cs typeface="Arial"/>
              </a:rPr>
              <a:t>Source, 75 screenshots, the video and this deck remain in the repository.</a:t>
            </a:r>
          </a:p>
        </p:txBody>
      </p:sp>
      <p:sp>
        <p:nvSpPr>
          <p:cNvPr id="7" name="github.com/Yeashu/DevOps-Capstone">
            <a:extLst xmlns:a="http://schemas.openxmlformats.org/drawingml/2006/main">
              <a:ext uri="{FF2B5EF4-FFF2-40B4-BE49-F238E27FC236}">
                <a16:creationId xmlns:a16="http://schemas.microsoft.com/office/drawing/2014/main" id="{8B37B713-AD21-413D-B83A-6C5E68B2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001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496D3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96D37"/>
                </a:solidFill>
                <a:latin typeface="Arial"/>
                <a:ea typeface="Arial"/>
                <a:cs typeface="Arial"/>
                <a:hlinkClick xmlns:r="http://schemas.openxmlformats.org/officeDocument/2006/relationships" r:id="Rb0dfc4f9171a46b1"/>
              </a:rPr>
              <a:t>github.com/Yeashu/DevOps-Capstone</a:t>
            </a:r>
          </a:p>
        </p:txBody>
      </p:sp>
    </p:spTree>
    <p:extLst>
      <p:ext uri="{BB962C8B-B14F-4D97-AF65-F5344CB8AC3E}">
        <p14:creationId xmlns:p14="http://schemas.microsoft.com/office/powerpoint/2010/main" val="4704966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2026-10-26T12:09:54.2120000Z</dcterms:created>
  <dcterms:modified xsi:type="dcterms:W3CDTF">2026-10-26T12:09:54.2120000Z</dcterms:modified>
</coreProperties>
</file>